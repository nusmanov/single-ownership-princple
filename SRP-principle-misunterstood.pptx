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700" r:id="rId1"/>
  </p:sldMasterIdLst>
  <p:notesMasterIdLst>
    <p:notesMasterId r:id="rId26"/>
  </p:notesMasterIdLst>
  <p:sldIdLst>
    <p:sldId id="256" r:id="rId2"/>
    <p:sldId id="296" r:id="rId3"/>
    <p:sldId id="302" r:id="rId4"/>
    <p:sldId id="272" r:id="rId5"/>
    <p:sldId id="273" r:id="rId6"/>
    <p:sldId id="277" r:id="rId7"/>
    <p:sldId id="279" r:id="rId8"/>
    <p:sldId id="300" r:id="rId9"/>
    <p:sldId id="303" r:id="rId10"/>
    <p:sldId id="278" r:id="rId11"/>
    <p:sldId id="301" r:id="rId12"/>
    <p:sldId id="284" r:id="rId13"/>
    <p:sldId id="286" r:id="rId14"/>
    <p:sldId id="304" r:id="rId15"/>
    <p:sldId id="290" r:id="rId16"/>
    <p:sldId id="294" r:id="rId17"/>
    <p:sldId id="297" r:id="rId18"/>
    <p:sldId id="298" r:id="rId19"/>
    <p:sldId id="268" r:id="rId20"/>
    <p:sldId id="305" r:id="rId21"/>
    <p:sldId id="295" r:id="rId22"/>
    <p:sldId id="266" r:id="rId23"/>
    <p:sldId id="271" r:id="rId24"/>
    <p:sldId id="270" r:id="rId25"/>
  </p:sldIdLst>
  <p:sldSz cx="12192000" cy="6858000"/>
  <p:notesSz cx="9144000" cy="6858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5B41C"/>
    <a:srgbClr val="FCE61F"/>
    <a:srgbClr val="FFFFFF"/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CCD2981-818D-3C4F-8002-77E59F649D93}" v="10" dt="2026-10-11T19:18:22.46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643"/>
    <p:restoredTop sz="87740"/>
  </p:normalViewPr>
  <p:slideViewPr>
    <p:cSldViewPr snapToGrid="0" snapToObjects="1">
      <p:cViewPr>
        <p:scale>
          <a:sx n="102" d="100"/>
          <a:sy n="102" d="100"/>
        </p:scale>
        <p:origin x="112" y="3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odirbek U." userId="bfae8d28e38e51c0" providerId="LiveId" clId="{F8843C22-A0E4-5FF9-BD01-96F3A8E58492}"/>
    <pc:docChg chg="undo custSel modSld">
      <pc:chgData name="Nodirbek U." userId="bfae8d28e38e51c0" providerId="LiveId" clId="{F8843C22-A0E4-5FF9-BD01-96F3A8E58492}" dt="2026-10-11T19:20:30.666" v="88" actId="20577"/>
      <pc:docMkLst>
        <pc:docMk/>
      </pc:docMkLst>
      <pc:sldChg chg="modSp mod">
        <pc:chgData name="Nodirbek U." userId="bfae8d28e38e51c0" providerId="LiveId" clId="{F8843C22-A0E4-5FF9-BD01-96F3A8E58492}" dt="2026-10-11T19:20:30.666" v="88" actId="20577"/>
        <pc:sldMkLst>
          <pc:docMk/>
          <pc:sldMk cId="3975582948" sldId="256"/>
        </pc:sldMkLst>
        <pc:spChg chg="mod">
          <ac:chgData name="Nodirbek U." userId="bfae8d28e38e51c0" providerId="LiveId" clId="{F8843C22-A0E4-5FF9-BD01-96F3A8E58492}" dt="2026-10-11T19:20:30.666" v="88" actId="20577"/>
          <ac:spMkLst>
            <pc:docMk/>
            <pc:sldMk cId="3975582948" sldId="256"/>
            <ac:spMk id="2" creationId="{D2774B09-7466-9542-A22D-BEF1BF1B1EC2}"/>
          </ac:spMkLst>
        </pc:spChg>
        <pc:spChg chg="mod">
          <ac:chgData name="Nodirbek U." userId="bfae8d28e38e51c0" providerId="LiveId" clId="{F8843C22-A0E4-5FF9-BD01-96F3A8E58492}" dt="2026-10-11T19:20:27.452" v="86" actId="20577"/>
          <ac:spMkLst>
            <pc:docMk/>
            <pc:sldMk cId="3975582948" sldId="256"/>
            <ac:spMk id="12" creationId="{870818AF-88CB-2D4C-BC7C-929C0827727E}"/>
          </ac:spMkLst>
        </pc:spChg>
        <pc:picChg chg="mod">
          <ac:chgData name="Nodirbek U." userId="bfae8d28e38e51c0" providerId="LiveId" clId="{F8843C22-A0E4-5FF9-BD01-96F3A8E58492}" dt="2026-10-11T19:20:13.292" v="79" actId="14100"/>
          <ac:picMkLst>
            <pc:docMk/>
            <pc:sldMk cId="3975582948" sldId="256"/>
            <ac:picMk id="7" creationId="{DC4A5070-E569-4217-A45E-B3D944640ABD}"/>
          </ac:picMkLst>
        </pc:picChg>
      </pc:sldChg>
      <pc:sldChg chg="modSp mod">
        <pc:chgData name="Nodirbek U." userId="bfae8d28e38e51c0" providerId="LiveId" clId="{F8843C22-A0E4-5FF9-BD01-96F3A8E58492}" dt="2026-10-11T19:17:31.983" v="50" actId="20577"/>
        <pc:sldMkLst>
          <pc:docMk/>
          <pc:sldMk cId="3054313936" sldId="268"/>
        </pc:sldMkLst>
        <pc:spChg chg="mod">
          <ac:chgData name="Nodirbek U." userId="bfae8d28e38e51c0" providerId="LiveId" clId="{F8843C22-A0E4-5FF9-BD01-96F3A8E58492}" dt="2026-10-11T19:17:31.983" v="50" actId="20577"/>
          <ac:spMkLst>
            <pc:docMk/>
            <pc:sldMk cId="3054313936" sldId="268"/>
            <ac:spMk id="11" creationId="{831A3304-C47D-C045-A6D4-400344E5F5A5}"/>
          </ac:spMkLst>
        </pc:spChg>
      </pc:sldChg>
      <pc:sldChg chg="modSp">
        <pc:chgData name="Nodirbek U." userId="bfae8d28e38e51c0" providerId="LiveId" clId="{F8843C22-A0E4-5FF9-BD01-96F3A8E58492}" dt="2026-10-11T19:18:22.462" v="62" actId="20577"/>
        <pc:sldMkLst>
          <pc:docMk/>
          <pc:sldMk cId="3168496532" sldId="270"/>
        </pc:sldMkLst>
        <pc:graphicFrameChg chg="mod">
          <ac:chgData name="Nodirbek U." userId="bfae8d28e38e51c0" providerId="LiveId" clId="{F8843C22-A0E4-5FF9-BD01-96F3A8E58492}" dt="2026-10-11T19:18:22.462" v="62" actId="20577"/>
          <ac:graphicFrameMkLst>
            <pc:docMk/>
            <pc:sldMk cId="3168496532" sldId="270"/>
            <ac:graphicFrameMk id="20" creationId="{D121C6E8-B1B0-6006-A1F3-88A78F44D8D6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4.svg"/><Relationship Id="rId1" Type="http://schemas.openxmlformats.org/officeDocument/2006/relationships/hyperlink" Target="https://linkedin.com/in/nodirbek-usmanov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https://linkedin.com/in/nodirbek-usmanov" TargetMode="External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>
        <a:alpha val="0"/>
      </a:schemeClr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60B38D-ACFF-432D-AAE0-F50F327FD46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0_3" csCatId="mainScheme" phldr="1"/>
      <dgm:spPr/>
      <dgm:t>
        <a:bodyPr/>
        <a:lstStyle/>
        <a:p>
          <a:endParaRPr lang="en-US"/>
        </a:p>
      </dgm:t>
    </dgm:pt>
    <dgm:pt modelId="{B709965D-EE48-483F-8905-48167DACBA9B}">
      <dgm:prSet/>
      <dgm:spPr/>
      <dgm:t>
        <a:bodyPr/>
        <a:lstStyle/>
        <a:p>
          <a:pPr>
            <a:defRPr b="1"/>
          </a:pPr>
          <a:r>
            <a:rPr lang="en-GB" b="0" dirty="0"/>
            <a:t>Reviewer Ulugbek Usmanov</a:t>
          </a:r>
        </a:p>
        <a:p>
          <a:pPr>
            <a:defRPr b="1"/>
          </a:pPr>
          <a:r>
            <a:rPr lang="en-GB" b="0" dirty="0"/>
            <a:t>Adesso AG Deutschland</a:t>
          </a:r>
          <a:endParaRPr lang="en-US" b="0" dirty="0"/>
        </a:p>
      </dgm:t>
    </dgm:pt>
    <dgm:pt modelId="{B7BDFBEA-D2B7-4D1A-A8F2-14B98B019A64}" type="parTrans" cxnId="{146D3491-A33E-49EA-9D13-AA2D81F146BE}">
      <dgm:prSet/>
      <dgm:spPr/>
      <dgm:t>
        <a:bodyPr/>
        <a:lstStyle/>
        <a:p>
          <a:endParaRPr lang="en-US" b="0"/>
        </a:p>
      </dgm:t>
    </dgm:pt>
    <dgm:pt modelId="{DFD1E3DC-1D32-407A-B874-1C834D495AFB}" type="sibTrans" cxnId="{146D3491-A33E-49EA-9D13-AA2D81F146BE}">
      <dgm:prSet/>
      <dgm:spPr/>
      <dgm:t>
        <a:bodyPr/>
        <a:lstStyle/>
        <a:p>
          <a:endParaRPr lang="en-US" b="0"/>
        </a:p>
      </dgm:t>
    </dgm:pt>
    <dgm:pt modelId="{569D49AE-8560-4CD9-AE72-06EE91E22FA2}">
      <dgm:prSet/>
      <dgm:spPr/>
      <dgm:t>
        <a:bodyPr/>
        <a:lstStyle/>
        <a:p>
          <a:pPr>
            <a:defRPr b="1"/>
          </a:pPr>
          <a:r>
            <a:rPr lang="en-GB" b="0" dirty="0"/>
            <a:t>Reviewer Marcus Schroeder</a:t>
          </a:r>
        </a:p>
        <a:p>
          <a:pPr>
            <a:defRPr b="1"/>
          </a:pPr>
          <a:r>
            <a:rPr lang="en-GB" b="0" dirty="0"/>
            <a:t>flint &amp; sparks GmbH, Berlin</a:t>
          </a:r>
          <a:endParaRPr lang="en-US" b="0" dirty="0"/>
        </a:p>
      </dgm:t>
    </dgm:pt>
    <dgm:pt modelId="{C2FFE43D-5AB9-4FC3-9069-584B10CFB400}" type="parTrans" cxnId="{126ADD0C-A25F-4B03-8CC6-C998DADD84C4}">
      <dgm:prSet/>
      <dgm:spPr/>
      <dgm:t>
        <a:bodyPr/>
        <a:lstStyle/>
        <a:p>
          <a:endParaRPr lang="en-US" b="0"/>
        </a:p>
      </dgm:t>
    </dgm:pt>
    <dgm:pt modelId="{8DBA0E84-66FC-4A62-8064-A8C0345D7DD3}" type="sibTrans" cxnId="{126ADD0C-A25F-4B03-8CC6-C998DADD84C4}">
      <dgm:prSet/>
      <dgm:spPr/>
      <dgm:t>
        <a:bodyPr/>
        <a:lstStyle/>
        <a:p>
          <a:endParaRPr lang="en-US" b="0"/>
        </a:p>
      </dgm:t>
    </dgm:pt>
    <dgm:pt modelId="{8446CD52-0BD9-4819-A439-072C4F5BC181}">
      <dgm:prSet/>
      <dgm:spPr/>
      <dgm:t>
        <a:bodyPr/>
        <a:lstStyle/>
        <a:p>
          <a:pPr>
            <a:defRPr b="1"/>
          </a:pPr>
          <a:r>
            <a:rPr lang="en-GB" b="0" dirty="0"/>
            <a:t>Contact me</a:t>
          </a:r>
          <a:endParaRPr lang="en-US" b="0" dirty="0"/>
        </a:p>
      </dgm:t>
    </dgm:pt>
    <dgm:pt modelId="{F6FBFABF-D6CB-4087-A0F6-5C2E42B64D92}" type="parTrans" cxnId="{988E6925-F501-4937-877E-40B938FAFEDD}">
      <dgm:prSet/>
      <dgm:spPr/>
      <dgm:t>
        <a:bodyPr/>
        <a:lstStyle/>
        <a:p>
          <a:endParaRPr lang="en-US" b="0"/>
        </a:p>
      </dgm:t>
    </dgm:pt>
    <dgm:pt modelId="{20C2AF12-D7C9-476F-A9C1-5BFE94CD2FF1}" type="sibTrans" cxnId="{988E6925-F501-4937-877E-40B938FAFEDD}">
      <dgm:prSet/>
      <dgm:spPr/>
      <dgm:t>
        <a:bodyPr/>
        <a:lstStyle/>
        <a:p>
          <a:endParaRPr lang="en-US" b="0"/>
        </a:p>
      </dgm:t>
    </dgm:pt>
    <dgm:pt modelId="{659FE864-5A7A-486D-AC53-E3B51C1CA322}">
      <dgm:prSet/>
      <dgm:spPr/>
      <dgm:t>
        <a:bodyPr/>
        <a:lstStyle/>
        <a:p>
          <a:r>
            <a:rPr lang="en-GB" b="0" dirty="0">
              <a:hlinkClick xmlns:r="http://schemas.openxmlformats.org/officeDocument/2006/relationships" r:id="rId1"/>
            </a:rPr>
            <a:t>https://linkedin.com/in/nodirbek-usmanov</a:t>
          </a:r>
          <a:endParaRPr lang="en-US" b="0" dirty="0"/>
        </a:p>
      </dgm:t>
    </dgm:pt>
    <dgm:pt modelId="{6F694960-8D21-44FF-9A5D-68FEEFFC3A64}" type="parTrans" cxnId="{210D8AB0-583A-4BE4-A3CA-7FEDC657A9E3}">
      <dgm:prSet/>
      <dgm:spPr/>
      <dgm:t>
        <a:bodyPr/>
        <a:lstStyle/>
        <a:p>
          <a:endParaRPr lang="en-US" b="0"/>
        </a:p>
      </dgm:t>
    </dgm:pt>
    <dgm:pt modelId="{038F0A9F-9EA5-47C1-9C53-C1FB0C3BF68E}" type="sibTrans" cxnId="{210D8AB0-583A-4BE4-A3CA-7FEDC657A9E3}">
      <dgm:prSet/>
      <dgm:spPr/>
      <dgm:t>
        <a:bodyPr/>
        <a:lstStyle/>
        <a:p>
          <a:endParaRPr lang="en-US" b="0"/>
        </a:p>
      </dgm:t>
    </dgm:pt>
    <dgm:pt modelId="{2881D8C1-3CEC-4417-9CF0-5974257AD385}">
      <dgm:prSet/>
      <dgm:spPr/>
      <dgm:t>
        <a:bodyPr/>
        <a:lstStyle/>
        <a:p>
          <a:r>
            <a:rPr lang="en-GB" b="0" dirty="0" err="1"/>
            <a:t>nodirbek@befico.de</a:t>
          </a:r>
          <a:endParaRPr lang="en-US" b="0" dirty="0"/>
        </a:p>
      </dgm:t>
    </dgm:pt>
    <dgm:pt modelId="{7ADE0D04-3C6A-4407-8C3E-BB576BC89C93}" type="parTrans" cxnId="{90B24C78-6051-4DCA-A1CA-51DF59E896EE}">
      <dgm:prSet/>
      <dgm:spPr/>
      <dgm:t>
        <a:bodyPr/>
        <a:lstStyle/>
        <a:p>
          <a:endParaRPr lang="en-US" b="0"/>
        </a:p>
      </dgm:t>
    </dgm:pt>
    <dgm:pt modelId="{DE657884-EC8E-40E1-B639-0CDB3DB9931B}" type="sibTrans" cxnId="{90B24C78-6051-4DCA-A1CA-51DF59E896EE}">
      <dgm:prSet/>
      <dgm:spPr/>
      <dgm:t>
        <a:bodyPr/>
        <a:lstStyle/>
        <a:p>
          <a:endParaRPr lang="en-US" b="0"/>
        </a:p>
      </dgm:t>
    </dgm:pt>
    <dgm:pt modelId="{FF8133F7-0C29-4335-AD47-FBC537186920}" type="pres">
      <dgm:prSet presAssocID="{E160B38D-ACFF-432D-AAE0-F50F327FD462}" presName="root" presStyleCnt="0">
        <dgm:presLayoutVars>
          <dgm:dir/>
          <dgm:resizeHandles val="exact"/>
        </dgm:presLayoutVars>
      </dgm:prSet>
      <dgm:spPr/>
    </dgm:pt>
    <dgm:pt modelId="{556998AB-C6E5-4C4D-BFE0-098CD02F7E60}" type="pres">
      <dgm:prSet presAssocID="{B709965D-EE48-483F-8905-48167DACBA9B}" presName="compNode" presStyleCnt="0"/>
      <dgm:spPr/>
    </dgm:pt>
    <dgm:pt modelId="{8C5DB0CF-DC44-4F2F-B418-A0CC2E86D739}" type="pres">
      <dgm:prSet presAssocID="{B709965D-EE48-483F-8905-48167DACBA9B}" presName="iconRect" presStyleLbl="node1" presStyleIdx="0" presStyleCnt="3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A8694C0-A340-4F93-8C8A-877AE29A9988}" type="pres">
      <dgm:prSet presAssocID="{B709965D-EE48-483F-8905-48167DACBA9B}" presName="iconSpace" presStyleCnt="0"/>
      <dgm:spPr/>
    </dgm:pt>
    <dgm:pt modelId="{7A9BE4F1-C00B-444A-8E3C-4C3441C3527B}" type="pres">
      <dgm:prSet presAssocID="{B709965D-EE48-483F-8905-48167DACBA9B}" presName="parTx" presStyleLbl="revTx" presStyleIdx="0" presStyleCnt="6">
        <dgm:presLayoutVars>
          <dgm:chMax val="0"/>
          <dgm:chPref val="0"/>
        </dgm:presLayoutVars>
      </dgm:prSet>
      <dgm:spPr/>
    </dgm:pt>
    <dgm:pt modelId="{755B8B07-F036-4928-8CEA-64B0ABF54795}" type="pres">
      <dgm:prSet presAssocID="{B709965D-EE48-483F-8905-48167DACBA9B}" presName="txSpace" presStyleCnt="0"/>
      <dgm:spPr/>
    </dgm:pt>
    <dgm:pt modelId="{1370341F-13D4-4463-8F51-6C6751040CD2}" type="pres">
      <dgm:prSet presAssocID="{B709965D-EE48-483F-8905-48167DACBA9B}" presName="desTx" presStyleLbl="revTx" presStyleIdx="1" presStyleCnt="6">
        <dgm:presLayoutVars/>
      </dgm:prSet>
      <dgm:spPr/>
    </dgm:pt>
    <dgm:pt modelId="{6CE9D3C6-CD78-4FB9-AFF2-C1D4E767326B}" type="pres">
      <dgm:prSet presAssocID="{DFD1E3DC-1D32-407A-B874-1C834D495AFB}" presName="sibTrans" presStyleCnt="0"/>
      <dgm:spPr/>
    </dgm:pt>
    <dgm:pt modelId="{3BCF7BB6-898D-4BF1-A9BE-BC6147194E41}" type="pres">
      <dgm:prSet presAssocID="{569D49AE-8560-4CD9-AE72-06EE91E22FA2}" presName="compNode" presStyleCnt="0"/>
      <dgm:spPr/>
    </dgm:pt>
    <dgm:pt modelId="{8B8BCA66-C776-4628-8E62-E4C9F466B747}" type="pres">
      <dgm:prSet presAssocID="{569D49AE-8560-4CD9-AE72-06EE91E22FA2}" presName="iconRect" presStyleLbl="node1" presStyleIdx="1" presStyleCnt="3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terodactyl"/>
        </a:ext>
      </dgm:extLst>
    </dgm:pt>
    <dgm:pt modelId="{BA7B18BE-7981-4946-BD67-3C37EE4BB3BA}" type="pres">
      <dgm:prSet presAssocID="{569D49AE-8560-4CD9-AE72-06EE91E22FA2}" presName="iconSpace" presStyleCnt="0"/>
      <dgm:spPr/>
    </dgm:pt>
    <dgm:pt modelId="{DCCF5E73-D9A3-4DAA-AA0C-D3834F0D6772}" type="pres">
      <dgm:prSet presAssocID="{569D49AE-8560-4CD9-AE72-06EE91E22FA2}" presName="parTx" presStyleLbl="revTx" presStyleIdx="2" presStyleCnt="6">
        <dgm:presLayoutVars>
          <dgm:chMax val="0"/>
          <dgm:chPref val="0"/>
        </dgm:presLayoutVars>
      </dgm:prSet>
      <dgm:spPr/>
    </dgm:pt>
    <dgm:pt modelId="{05EA199B-BBA7-4B4A-AABF-6CC0E3949879}" type="pres">
      <dgm:prSet presAssocID="{569D49AE-8560-4CD9-AE72-06EE91E22FA2}" presName="txSpace" presStyleCnt="0"/>
      <dgm:spPr/>
    </dgm:pt>
    <dgm:pt modelId="{564D05EC-5669-43BE-8BEC-7765612178D1}" type="pres">
      <dgm:prSet presAssocID="{569D49AE-8560-4CD9-AE72-06EE91E22FA2}" presName="desTx" presStyleLbl="revTx" presStyleIdx="3" presStyleCnt="6">
        <dgm:presLayoutVars/>
      </dgm:prSet>
      <dgm:spPr/>
    </dgm:pt>
    <dgm:pt modelId="{6CC37468-20F9-4C6E-9F6B-CD5BB47D6D60}" type="pres">
      <dgm:prSet presAssocID="{8DBA0E84-66FC-4A62-8064-A8C0345D7DD3}" presName="sibTrans" presStyleCnt="0"/>
      <dgm:spPr/>
    </dgm:pt>
    <dgm:pt modelId="{A03001C0-B447-423D-80D5-132DD1D51974}" type="pres">
      <dgm:prSet presAssocID="{8446CD52-0BD9-4819-A439-072C4F5BC181}" presName="compNode" presStyleCnt="0"/>
      <dgm:spPr/>
    </dgm:pt>
    <dgm:pt modelId="{3E7CDF8E-AF3C-499F-B1DD-A3B884862653}" type="pres">
      <dgm:prSet presAssocID="{8446CD52-0BD9-4819-A439-072C4F5BC181}" presName="iconRect" presStyleLbl="node1" presStyleIdx="2" presStyleCnt="3"/>
      <dgm:spPr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nvelope"/>
        </a:ext>
      </dgm:extLst>
    </dgm:pt>
    <dgm:pt modelId="{AD937D12-A256-4CBB-9512-138CFAA9A43D}" type="pres">
      <dgm:prSet presAssocID="{8446CD52-0BD9-4819-A439-072C4F5BC181}" presName="iconSpace" presStyleCnt="0"/>
      <dgm:spPr/>
    </dgm:pt>
    <dgm:pt modelId="{F8A90F96-EC0F-449B-A10B-6EB747DD827A}" type="pres">
      <dgm:prSet presAssocID="{8446CD52-0BD9-4819-A439-072C4F5BC181}" presName="parTx" presStyleLbl="revTx" presStyleIdx="4" presStyleCnt="6">
        <dgm:presLayoutVars>
          <dgm:chMax val="0"/>
          <dgm:chPref val="0"/>
        </dgm:presLayoutVars>
      </dgm:prSet>
      <dgm:spPr/>
    </dgm:pt>
    <dgm:pt modelId="{65B79623-E01D-4018-B200-5A5944B026AE}" type="pres">
      <dgm:prSet presAssocID="{8446CD52-0BD9-4819-A439-072C4F5BC181}" presName="txSpace" presStyleCnt="0"/>
      <dgm:spPr/>
    </dgm:pt>
    <dgm:pt modelId="{4D9E0476-9DD4-4F41-89A5-22AFA95FCFF9}" type="pres">
      <dgm:prSet presAssocID="{8446CD52-0BD9-4819-A439-072C4F5BC181}" presName="desTx" presStyleLbl="revTx" presStyleIdx="5" presStyleCnt="6" custLinFactNeighborX="116" custLinFactNeighborY="-80466">
        <dgm:presLayoutVars/>
      </dgm:prSet>
      <dgm:spPr/>
    </dgm:pt>
  </dgm:ptLst>
  <dgm:cxnLst>
    <dgm:cxn modelId="{126ADD0C-A25F-4B03-8CC6-C998DADD84C4}" srcId="{E160B38D-ACFF-432D-AAE0-F50F327FD462}" destId="{569D49AE-8560-4CD9-AE72-06EE91E22FA2}" srcOrd="1" destOrd="0" parTransId="{C2FFE43D-5AB9-4FC3-9069-584B10CFB400}" sibTransId="{8DBA0E84-66FC-4A62-8064-A8C0345D7DD3}"/>
    <dgm:cxn modelId="{57AF5010-73CC-4AA9-80D1-7C3F33E77CF0}" type="presOf" srcId="{2881D8C1-3CEC-4417-9CF0-5974257AD385}" destId="{4D9E0476-9DD4-4F41-89A5-22AFA95FCFF9}" srcOrd="0" destOrd="1" presId="urn:microsoft.com/office/officeart/2018/5/layout/CenteredIconLabelDescriptionList"/>
    <dgm:cxn modelId="{0424FE18-FEB2-4DF7-96B8-1C7F0BFC6ED2}" type="presOf" srcId="{E160B38D-ACFF-432D-AAE0-F50F327FD462}" destId="{FF8133F7-0C29-4335-AD47-FBC537186920}" srcOrd="0" destOrd="0" presId="urn:microsoft.com/office/officeart/2018/5/layout/CenteredIconLabelDescriptionList"/>
    <dgm:cxn modelId="{988E6925-F501-4937-877E-40B938FAFEDD}" srcId="{E160B38D-ACFF-432D-AAE0-F50F327FD462}" destId="{8446CD52-0BD9-4819-A439-072C4F5BC181}" srcOrd="2" destOrd="0" parTransId="{F6FBFABF-D6CB-4087-A0F6-5C2E42B64D92}" sibTransId="{20C2AF12-D7C9-476F-A9C1-5BFE94CD2FF1}"/>
    <dgm:cxn modelId="{7C231136-6041-4EA2-BF23-7A3D1F36351A}" type="presOf" srcId="{8446CD52-0BD9-4819-A439-072C4F5BC181}" destId="{F8A90F96-EC0F-449B-A10B-6EB747DD827A}" srcOrd="0" destOrd="0" presId="urn:microsoft.com/office/officeart/2018/5/layout/CenteredIconLabelDescriptionList"/>
    <dgm:cxn modelId="{92AEEB60-6E1E-4ED4-BBAA-8BC2D0CC48EC}" type="presOf" srcId="{B709965D-EE48-483F-8905-48167DACBA9B}" destId="{7A9BE4F1-C00B-444A-8E3C-4C3441C3527B}" srcOrd="0" destOrd="0" presId="urn:microsoft.com/office/officeart/2018/5/layout/CenteredIconLabelDescriptionList"/>
    <dgm:cxn modelId="{90B24C78-6051-4DCA-A1CA-51DF59E896EE}" srcId="{8446CD52-0BD9-4819-A439-072C4F5BC181}" destId="{2881D8C1-3CEC-4417-9CF0-5974257AD385}" srcOrd="1" destOrd="0" parTransId="{7ADE0D04-3C6A-4407-8C3E-BB576BC89C93}" sibTransId="{DE657884-EC8E-40E1-B639-0CDB3DB9931B}"/>
    <dgm:cxn modelId="{146D3491-A33E-49EA-9D13-AA2D81F146BE}" srcId="{E160B38D-ACFF-432D-AAE0-F50F327FD462}" destId="{B709965D-EE48-483F-8905-48167DACBA9B}" srcOrd="0" destOrd="0" parTransId="{B7BDFBEA-D2B7-4D1A-A8F2-14B98B019A64}" sibTransId="{DFD1E3DC-1D32-407A-B874-1C834D495AFB}"/>
    <dgm:cxn modelId="{F4295292-DC02-4331-A661-1AF12067A75A}" type="presOf" srcId="{569D49AE-8560-4CD9-AE72-06EE91E22FA2}" destId="{DCCF5E73-D9A3-4DAA-AA0C-D3834F0D6772}" srcOrd="0" destOrd="0" presId="urn:microsoft.com/office/officeart/2018/5/layout/CenteredIconLabelDescriptionList"/>
    <dgm:cxn modelId="{038767A6-7039-459C-8DEB-AB17A61A35F7}" type="presOf" srcId="{659FE864-5A7A-486D-AC53-E3B51C1CA322}" destId="{4D9E0476-9DD4-4F41-89A5-22AFA95FCFF9}" srcOrd="0" destOrd="0" presId="urn:microsoft.com/office/officeart/2018/5/layout/CenteredIconLabelDescriptionList"/>
    <dgm:cxn modelId="{210D8AB0-583A-4BE4-A3CA-7FEDC657A9E3}" srcId="{8446CD52-0BD9-4819-A439-072C4F5BC181}" destId="{659FE864-5A7A-486D-AC53-E3B51C1CA322}" srcOrd="0" destOrd="0" parTransId="{6F694960-8D21-44FF-9A5D-68FEEFFC3A64}" sibTransId="{038F0A9F-9EA5-47C1-9C53-C1FB0C3BF68E}"/>
    <dgm:cxn modelId="{94C54480-2C8D-4B84-AF18-5003C48A15E0}" type="presParOf" srcId="{FF8133F7-0C29-4335-AD47-FBC537186920}" destId="{556998AB-C6E5-4C4D-BFE0-098CD02F7E60}" srcOrd="0" destOrd="0" presId="urn:microsoft.com/office/officeart/2018/5/layout/CenteredIconLabelDescriptionList"/>
    <dgm:cxn modelId="{7139511F-5EBE-4390-9E89-93EC8AA94D02}" type="presParOf" srcId="{556998AB-C6E5-4C4D-BFE0-098CD02F7E60}" destId="{8C5DB0CF-DC44-4F2F-B418-A0CC2E86D739}" srcOrd="0" destOrd="0" presId="urn:microsoft.com/office/officeart/2018/5/layout/CenteredIconLabelDescriptionList"/>
    <dgm:cxn modelId="{6922A631-C2D2-4B73-8548-D851B97294C3}" type="presParOf" srcId="{556998AB-C6E5-4C4D-BFE0-098CD02F7E60}" destId="{5A8694C0-A340-4F93-8C8A-877AE29A9988}" srcOrd="1" destOrd="0" presId="urn:microsoft.com/office/officeart/2018/5/layout/CenteredIconLabelDescriptionList"/>
    <dgm:cxn modelId="{5392FD21-BCC1-493B-BD60-2632EE0B9429}" type="presParOf" srcId="{556998AB-C6E5-4C4D-BFE0-098CD02F7E60}" destId="{7A9BE4F1-C00B-444A-8E3C-4C3441C3527B}" srcOrd="2" destOrd="0" presId="urn:microsoft.com/office/officeart/2018/5/layout/CenteredIconLabelDescriptionList"/>
    <dgm:cxn modelId="{77368673-F080-42F8-AC88-BECF6FFB1734}" type="presParOf" srcId="{556998AB-C6E5-4C4D-BFE0-098CD02F7E60}" destId="{755B8B07-F036-4928-8CEA-64B0ABF54795}" srcOrd="3" destOrd="0" presId="urn:microsoft.com/office/officeart/2018/5/layout/CenteredIconLabelDescriptionList"/>
    <dgm:cxn modelId="{BC631ED7-56B5-45C1-B25D-F716FD9B48CE}" type="presParOf" srcId="{556998AB-C6E5-4C4D-BFE0-098CD02F7E60}" destId="{1370341F-13D4-4463-8F51-6C6751040CD2}" srcOrd="4" destOrd="0" presId="urn:microsoft.com/office/officeart/2018/5/layout/CenteredIconLabelDescriptionList"/>
    <dgm:cxn modelId="{5B4C0A94-AE99-41FF-A8EE-E2C9D74F374B}" type="presParOf" srcId="{FF8133F7-0C29-4335-AD47-FBC537186920}" destId="{6CE9D3C6-CD78-4FB9-AFF2-C1D4E767326B}" srcOrd="1" destOrd="0" presId="urn:microsoft.com/office/officeart/2018/5/layout/CenteredIconLabelDescriptionList"/>
    <dgm:cxn modelId="{EE9A4D94-55A6-461A-A4BE-2F2232ACA177}" type="presParOf" srcId="{FF8133F7-0C29-4335-AD47-FBC537186920}" destId="{3BCF7BB6-898D-4BF1-A9BE-BC6147194E41}" srcOrd="2" destOrd="0" presId="urn:microsoft.com/office/officeart/2018/5/layout/CenteredIconLabelDescriptionList"/>
    <dgm:cxn modelId="{44DE9794-3956-4AE7-953D-F59B1BAEB260}" type="presParOf" srcId="{3BCF7BB6-898D-4BF1-A9BE-BC6147194E41}" destId="{8B8BCA66-C776-4628-8E62-E4C9F466B747}" srcOrd="0" destOrd="0" presId="urn:microsoft.com/office/officeart/2018/5/layout/CenteredIconLabelDescriptionList"/>
    <dgm:cxn modelId="{E330423A-4EB6-43F3-8ACB-59E75B5463AA}" type="presParOf" srcId="{3BCF7BB6-898D-4BF1-A9BE-BC6147194E41}" destId="{BA7B18BE-7981-4946-BD67-3C37EE4BB3BA}" srcOrd="1" destOrd="0" presId="urn:microsoft.com/office/officeart/2018/5/layout/CenteredIconLabelDescriptionList"/>
    <dgm:cxn modelId="{EF1804C9-3297-4BB5-AD8F-35D2D4FF2626}" type="presParOf" srcId="{3BCF7BB6-898D-4BF1-A9BE-BC6147194E41}" destId="{DCCF5E73-D9A3-4DAA-AA0C-D3834F0D6772}" srcOrd="2" destOrd="0" presId="urn:microsoft.com/office/officeart/2018/5/layout/CenteredIconLabelDescriptionList"/>
    <dgm:cxn modelId="{1CEC940D-7AE5-4AC6-849A-AC88D2BFDFC9}" type="presParOf" srcId="{3BCF7BB6-898D-4BF1-A9BE-BC6147194E41}" destId="{05EA199B-BBA7-4B4A-AABF-6CC0E3949879}" srcOrd="3" destOrd="0" presId="urn:microsoft.com/office/officeart/2018/5/layout/CenteredIconLabelDescriptionList"/>
    <dgm:cxn modelId="{11500CCE-27D3-4E2F-8949-980E68C1E7C3}" type="presParOf" srcId="{3BCF7BB6-898D-4BF1-A9BE-BC6147194E41}" destId="{564D05EC-5669-43BE-8BEC-7765612178D1}" srcOrd="4" destOrd="0" presId="urn:microsoft.com/office/officeart/2018/5/layout/CenteredIconLabelDescriptionList"/>
    <dgm:cxn modelId="{F637396E-F4A8-4FB9-82DF-C4135F2D6132}" type="presParOf" srcId="{FF8133F7-0C29-4335-AD47-FBC537186920}" destId="{6CC37468-20F9-4C6E-9F6B-CD5BB47D6D60}" srcOrd="3" destOrd="0" presId="urn:microsoft.com/office/officeart/2018/5/layout/CenteredIconLabelDescriptionList"/>
    <dgm:cxn modelId="{F8085ADB-24D2-4C89-BAC6-13E423F27C53}" type="presParOf" srcId="{FF8133F7-0C29-4335-AD47-FBC537186920}" destId="{A03001C0-B447-423D-80D5-132DD1D51974}" srcOrd="4" destOrd="0" presId="urn:microsoft.com/office/officeart/2018/5/layout/CenteredIconLabelDescriptionList"/>
    <dgm:cxn modelId="{1F5E7F05-220D-4466-B7C2-48255500EE92}" type="presParOf" srcId="{A03001C0-B447-423D-80D5-132DD1D51974}" destId="{3E7CDF8E-AF3C-499F-B1DD-A3B884862653}" srcOrd="0" destOrd="0" presId="urn:microsoft.com/office/officeart/2018/5/layout/CenteredIconLabelDescriptionList"/>
    <dgm:cxn modelId="{21822CC8-B878-4E14-8E7F-1675CE0E44F1}" type="presParOf" srcId="{A03001C0-B447-423D-80D5-132DD1D51974}" destId="{AD937D12-A256-4CBB-9512-138CFAA9A43D}" srcOrd="1" destOrd="0" presId="urn:microsoft.com/office/officeart/2018/5/layout/CenteredIconLabelDescriptionList"/>
    <dgm:cxn modelId="{799ED929-BBB1-4510-B8B7-8FFDC930DCA5}" type="presParOf" srcId="{A03001C0-B447-423D-80D5-132DD1D51974}" destId="{F8A90F96-EC0F-449B-A10B-6EB747DD827A}" srcOrd="2" destOrd="0" presId="urn:microsoft.com/office/officeart/2018/5/layout/CenteredIconLabelDescriptionList"/>
    <dgm:cxn modelId="{D58D2B3A-96F4-4B88-AEBB-884E1E77BE55}" type="presParOf" srcId="{A03001C0-B447-423D-80D5-132DD1D51974}" destId="{65B79623-E01D-4018-B200-5A5944B026AE}" srcOrd="3" destOrd="0" presId="urn:microsoft.com/office/officeart/2018/5/layout/CenteredIconLabelDescriptionList"/>
    <dgm:cxn modelId="{278F0140-6EFB-443F-9C4D-8AD09DF89B83}" type="presParOf" srcId="{A03001C0-B447-423D-80D5-132DD1D51974}" destId="{4D9E0476-9DD4-4F41-89A5-22AFA95FCFF9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5DB0CF-DC44-4F2F-B418-A0CC2E86D739}">
      <dsp:nvSpPr>
        <dsp:cNvPr id="0" name=""/>
        <dsp:cNvSpPr/>
      </dsp:nvSpPr>
      <dsp:spPr>
        <a:xfrm>
          <a:off x="1040249" y="782030"/>
          <a:ext cx="1116281" cy="1116281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9BE4F1-C00B-444A-8E3C-4C3441C3527B}">
      <dsp:nvSpPr>
        <dsp:cNvPr id="0" name=""/>
        <dsp:cNvSpPr/>
      </dsp:nvSpPr>
      <dsp:spPr>
        <a:xfrm>
          <a:off x="3702" y="1987446"/>
          <a:ext cx="3189375" cy="47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500" b="0" kern="1200" dirty="0"/>
            <a:t>Reviewer Ulugbek Usmanov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500" b="0" kern="1200" dirty="0"/>
            <a:t>Adesso AG Deutschland</a:t>
          </a:r>
          <a:endParaRPr lang="en-US" sz="1500" b="0" kern="1200" dirty="0"/>
        </a:p>
      </dsp:txBody>
      <dsp:txXfrm>
        <a:off x="3702" y="1987446"/>
        <a:ext cx="3189375" cy="478406"/>
      </dsp:txXfrm>
    </dsp:sp>
    <dsp:sp modelId="{1370341F-13D4-4463-8F51-6C6751040CD2}">
      <dsp:nvSpPr>
        <dsp:cNvPr id="0" name=""/>
        <dsp:cNvSpPr/>
      </dsp:nvSpPr>
      <dsp:spPr>
        <a:xfrm>
          <a:off x="3702" y="2507311"/>
          <a:ext cx="3189375" cy="347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B8BCA66-C776-4628-8E62-E4C9F466B747}">
      <dsp:nvSpPr>
        <dsp:cNvPr id="0" name=""/>
        <dsp:cNvSpPr/>
      </dsp:nvSpPr>
      <dsp:spPr>
        <a:xfrm>
          <a:off x="4787765" y="782030"/>
          <a:ext cx="1116281" cy="1116281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CF5E73-D9A3-4DAA-AA0C-D3834F0D6772}">
      <dsp:nvSpPr>
        <dsp:cNvPr id="0" name=""/>
        <dsp:cNvSpPr/>
      </dsp:nvSpPr>
      <dsp:spPr>
        <a:xfrm>
          <a:off x="3751218" y="1987446"/>
          <a:ext cx="3189375" cy="47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500" b="0" kern="1200" dirty="0"/>
            <a:t>Reviewer Marcus Schroeder</a:t>
          </a:r>
        </a:p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500" b="0" kern="1200" dirty="0"/>
            <a:t>flint &amp; sparks GmbH, Berlin</a:t>
          </a:r>
          <a:endParaRPr lang="en-US" sz="1500" b="0" kern="1200" dirty="0"/>
        </a:p>
      </dsp:txBody>
      <dsp:txXfrm>
        <a:off x="3751218" y="1987446"/>
        <a:ext cx="3189375" cy="478406"/>
      </dsp:txXfrm>
    </dsp:sp>
    <dsp:sp modelId="{564D05EC-5669-43BE-8BEC-7765612178D1}">
      <dsp:nvSpPr>
        <dsp:cNvPr id="0" name=""/>
        <dsp:cNvSpPr/>
      </dsp:nvSpPr>
      <dsp:spPr>
        <a:xfrm>
          <a:off x="3751218" y="2507311"/>
          <a:ext cx="3189375" cy="347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7CDF8E-AF3C-499F-B1DD-A3B884862653}">
      <dsp:nvSpPr>
        <dsp:cNvPr id="0" name=""/>
        <dsp:cNvSpPr/>
      </dsp:nvSpPr>
      <dsp:spPr>
        <a:xfrm>
          <a:off x="8535281" y="782030"/>
          <a:ext cx="1116281" cy="1116281"/>
        </a:xfrm>
        <a:prstGeom prst="rect">
          <a:avLst/>
        </a:prstGeom>
        <a:blipFill rotWithShape="1"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8A90F96-EC0F-449B-A10B-6EB747DD827A}">
      <dsp:nvSpPr>
        <dsp:cNvPr id="0" name=""/>
        <dsp:cNvSpPr/>
      </dsp:nvSpPr>
      <dsp:spPr>
        <a:xfrm>
          <a:off x="7498734" y="1987446"/>
          <a:ext cx="3189375" cy="4784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GB" sz="1500" b="0" kern="1200" dirty="0"/>
            <a:t>Contact me</a:t>
          </a:r>
          <a:endParaRPr lang="en-US" sz="1500" b="0" kern="1200" dirty="0"/>
        </a:p>
      </dsp:txBody>
      <dsp:txXfrm>
        <a:off x="7498734" y="1987446"/>
        <a:ext cx="3189375" cy="478406"/>
      </dsp:txXfrm>
    </dsp:sp>
    <dsp:sp modelId="{4D9E0476-9DD4-4F41-89A5-22AFA95FCFF9}">
      <dsp:nvSpPr>
        <dsp:cNvPr id="0" name=""/>
        <dsp:cNvSpPr/>
      </dsp:nvSpPr>
      <dsp:spPr>
        <a:xfrm>
          <a:off x="7502433" y="2227594"/>
          <a:ext cx="3189375" cy="34762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>
              <a:hlinkClick xmlns:r="http://schemas.openxmlformats.org/officeDocument/2006/relationships" r:id="rId3"/>
            </a:rPr>
            <a:t>https://linkedin.com/in/nodirbek-usmanov</a:t>
          </a:r>
          <a:endParaRPr lang="en-US" sz="1100" b="0" kern="1200" dirty="0"/>
        </a:p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100" b="0" kern="1200" dirty="0" err="1"/>
            <a:t>nodirbek@befico.de</a:t>
          </a:r>
          <a:endParaRPr lang="en-US" sz="1100" b="0" kern="1200" dirty="0"/>
        </a:p>
      </dsp:txBody>
      <dsp:txXfrm>
        <a:off x="7502433" y="2227594"/>
        <a:ext cx="3189375" cy="34762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79484" y="1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F18DD7-9288-6F48-BB7B-C3A891ADF99C}" type="datetimeFigureOut">
              <a:rPr lang="en-DE" smtClean="0"/>
              <a:t>11.10.26</a:t>
            </a:fld>
            <a:endParaRPr lang="en-D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D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A85F27-E8FC-E040-8D13-3B4DE36CC97F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774697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85F27-E8FC-E040-8D13-3B4DE36CC97F}" type="slidenum">
              <a:rPr lang="en-DE" smtClean="0"/>
              <a:t>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77918214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DE" dirty="0"/>
              <a:t>imiliary &gt;&gt; to getFaculty give me some examples?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85F27-E8FC-E040-8D13-3B4DE36CC97F}" type="slidenum">
              <a:rPr lang="en-DE" smtClean="0"/>
              <a:t>13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654872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S</a:t>
            </a:r>
            <a:r>
              <a:rPr lang="en-DE" dirty="0"/>
              <a:t>imiliary &gt;&gt; to getFaculty give me some examples?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85F27-E8FC-E040-8D13-3B4DE36CC97F}" type="slidenum">
              <a:rPr lang="en-DE" smtClean="0"/>
              <a:t>14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745452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85F27-E8FC-E040-8D13-3B4DE36CC97F}" type="slidenum">
              <a:rPr lang="en-DE" smtClean="0"/>
              <a:t>15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5320223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</a:t>
            </a:r>
            <a:r>
              <a:rPr lang="en-DE" dirty="0"/>
              <a:t>e aware of transitive dependecies</a:t>
            </a:r>
          </a:p>
          <a:p>
            <a:endParaRPr lang="en-DE" dirty="0"/>
          </a:p>
          <a:p>
            <a:r>
              <a:rPr lang="en-GB" dirty="0"/>
              <a:t>We realized that none of these solutions were perfect.</a:t>
            </a:r>
          </a:p>
          <a:p>
            <a:r>
              <a:rPr lang="en-GB" dirty="0"/>
              <a:t>Welcome to engineering</a:t>
            </a:r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85F27-E8FC-E040-8D13-3B4DE36CC97F}" type="slidenum">
              <a:rPr lang="en-DE" smtClean="0"/>
              <a:t>21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11625344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the class / module must perform one task or achieve a single objective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adhering to this principle in design of classes and modules, leads to separation of concerns(SoC) and maintainable code</a:t>
            </a:r>
          </a:p>
          <a:p>
            <a:r>
              <a:rPr lang="en-GB" dirty="0">
                <a:solidFill>
                  <a:schemeClr val="bg1">
                    <a:lumMod val="65000"/>
                  </a:schemeClr>
                </a:solidFill>
              </a:rPr>
              <a:t>follows the motto – </a:t>
            </a:r>
            <a:r>
              <a:rPr lang="en-GB" i="1" dirty="0">
                <a:solidFill>
                  <a:schemeClr val="bg1">
                    <a:lumMod val="65000"/>
                  </a:schemeClr>
                </a:solidFill>
              </a:rPr>
              <a:t>“do one thing and do it well”</a:t>
            </a:r>
          </a:p>
          <a:p>
            <a:r>
              <a:rPr lang="en-GB" dirty="0"/>
              <a:t>a single responsibility of the system, should drive the design of a class or module</a:t>
            </a:r>
          </a:p>
          <a:p>
            <a:r>
              <a:rPr lang="en-GB" dirty="0"/>
              <a:t>the design intent of the class or module must define its behaviour /responsibility</a:t>
            </a:r>
          </a:p>
          <a:p>
            <a:r>
              <a:rPr lang="en-GB" dirty="0">
                <a:highlight>
                  <a:srgbClr val="FFFF00"/>
                </a:highlight>
              </a:rPr>
              <a:t>it is against the idea of a class or module having all or multiple groups of the behaviour of the system</a:t>
            </a:r>
          </a:p>
          <a:p>
            <a:pPr lvl="1"/>
            <a:r>
              <a:rPr lang="en-GB" dirty="0"/>
              <a:t>such a design would make the system rigid, fragile, and less maintainable</a:t>
            </a:r>
          </a:p>
          <a:p>
            <a:endParaRPr lang="en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A85F27-E8FC-E040-8D13-3B4DE36CC97F}" type="slidenum">
              <a:rPr lang="en-DE" smtClean="0"/>
              <a:t>22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3328612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DE6C8-AB1D-4204-BC9C-3366B0BF04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8426" y="889820"/>
            <a:ext cx="9989574" cy="3598606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B9009-EE50-4EE5-B6EB-CD6EC83D3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8426" y="4488426"/>
            <a:ext cx="6991776" cy="1302774"/>
          </a:xfrm>
        </p:spPr>
        <p:txBody>
          <a:bodyPr anchor="b"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C8667E-058A-436F-B8EA-5B3A99D43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6C1CD2-10AD-2E41-9168-4B2E0537FD35}" type="datetime1">
              <a:rPr lang="de-DE" smtClean="0"/>
              <a:t>11.10.26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680305-1AD7-482D-BFFD-6CDB83AB39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762A1-52E9-402D-B65E-DF193E44C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962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987CA6-BFD9-4CB1-8892-F6B062E82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CDA8C3-9C0C-4E52-9A62-E4DB159E6B0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C3EC35-E02F-41FF-9232-F90692A902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8E57A9-24CC-2B47-8C4B-D8767204EC9C}" type="datetime1">
              <a:rPr lang="de-DE" smtClean="0"/>
              <a:t>11.10.26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D13D38-5DF1-443B-8A12-71E834FDC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5E644A-4A37-4757-9809-5B035E28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2258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6578B-CD85-4BF1-A729-E8E8079B59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5383" y="1709738"/>
            <a:ext cx="10632067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448C1-C13F-4826-8347-EEB00A664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3" y="4589463"/>
            <a:ext cx="10632067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6546A-957F-4C4D-9744-1177AD258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04E9B-829C-2A44-B3C6-952C744A4228}" type="datetime1">
              <a:rPr lang="de-DE" smtClean="0"/>
              <a:t>11.10.26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DB149C-CC63-4E3A-A83D-EF637EB51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B94775-7982-41EC-B584-D51224D38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99539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E4BD8-507D-48E4-A624-F16A741C3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12793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0A07E4-3A39-457C-A059-7DFB6039D94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715383" y="2128684"/>
            <a:ext cx="5304417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41E17-47CE-4A78-B0FA-0E9786DA67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128684"/>
            <a:ext cx="5219700" cy="3844414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F02C13-D3ED-4044-9716-F29D79A18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1A94A2-C810-D046-9B96-89434D99E0F3}" type="datetime1">
              <a:rPr lang="de-DE" smtClean="0"/>
              <a:t>11.10.26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F334AD-FB29-4355-B5CF-85E61B4F3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5AA154-790C-4774-9C21-8C543E733F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8134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7DD35-7673-4F88-86B0-634883B5E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87" y="929148"/>
            <a:ext cx="10640005" cy="76154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C820D7-3E0B-47C6-A583-C4C839C5AF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5384" y="1681163"/>
            <a:ext cx="5282192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839A7B-97D5-400F-B802-A0FF28FE9F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15384" y="2505075"/>
            <a:ext cx="5282192" cy="342377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0ECA2-DBF1-4681-9DFA-93AFD1B37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657225"/>
          </a:xfrm>
        </p:spPr>
        <p:txBody>
          <a:bodyPr anchor="b">
            <a:normAutofit/>
          </a:bodyPr>
          <a:lstStyle>
            <a:lvl1pPr marL="0" indent="0">
              <a:buNone/>
              <a:defRPr sz="1600" b="1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0EBBBB-517F-4ED7-9E51-CF0F7590B4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4237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1B5C7-1E37-478F-B4B0-C7202FFE4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A7B3D8-7F2C-3C4C-8A3D-A9D8BCC1F212}" type="datetime1">
              <a:rPr lang="de-DE" smtClean="0"/>
              <a:t>11.10.26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153F7EF-507C-4CB3-86C5-8B34FFFC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8E3DEA6-E4EB-4C2A-8B4F-55EC965B62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7530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032964-A933-4B98-A141-A4B316DAF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D684C9D-23DA-42B0-9DD3-7592F72E8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7DB202-3EBB-754C-A438-E219CC9D6E71}" type="datetime1">
              <a:rPr lang="de-DE" smtClean="0"/>
              <a:t>11.10.26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BF8F05-876F-49D8-AE30-5BB2A91EC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3D20DA-9260-4577-BB51-789570A24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0966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D2C1F24-E0A1-45A7-8EF5-92CD97993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B123E3-37AB-D449-A43B-9F0A80792D3B}" type="datetime1">
              <a:rPr lang="de-DE" smtClean="0"/>
              <a:t>11.10.26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021C19-210E-46B0-9036-5D8AECC9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880FEF-487E-44DF-8615-DF2210419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5220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A568EE-74C8-43A6-90BC-2DDD965CF6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426" y="781665"/>
            <a:ext cx="4093599" cy="1223452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1C35AC-CAE3-48CF-A3E4-A075C9FDD7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9D03EA-5FAD-4609-A2B8-624E42684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8258" y="2315497"/>
            <a:ext cx="4093599" cy="355349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58D2EA-2191-4216-B64D-067BDFE12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A87641-41FE-FA4A-B542-8C6CA5E5A339}" type="datetime1">
              <a:rPr lang="de-DE" smtClean="0"/>
              <a:t>11.10.26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042128-DAB4-481C-BEE6-3523E8E88B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50E382-C500-4A4C-A7C6-43860383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634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FE98B-EACF-4251-A8AF-0D9EDD17C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342" y="1066800"/>
            <a:ext cx="4103431" cy="1317523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05F473-761A-4002-AF70-9FF878D013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1066800"/>
            <a:ext cx="6172200" cy="47942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0C2E6A-F834-4540-BB00-E13CB45DC3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83342" y="2552700"/>
            <a:ext cx="4103431" cy="33162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C38EAB-AD63-415C-B263-BA1D8FBE3C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A96C567-5A76-164B-806A-2704CBCFE653}" type="datetime1">
              <a:rPr lang="de-DE" smtClean="0"/>
              <a:t>11.10.26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2E5541-B6DE-45E8-BCFE-0DFC4F574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B78D45-289B-46AF-8CB9-E6150BEA1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942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359C1-C098-4BF4-A55D-782F4E606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343C7E-1E8B-4D38-9B81-1AA2A8978ED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A70B00-53AE-4D3F-91BE-A8D789ED9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09DEF1-3A7F-7844-9FED-0034AB7FFA17}" type="datetime1">
              <a:rPr lang="de-DE" smtClean="0"/>
              <a:t>11.10.26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647FC7-8124-4F70-A849-B6BCC5189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CEBE4-50DC-47DB-B699-CCC024336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7149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418279-D3B8-4C6A-AB74-9DE37777127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42322" y="997974"/>
            <a:ext cx="2349043" cy="498495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8F733C-9309-4197-BACA-207CDC893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997973"/>
            <a:ext cx="8404122" cy="4984956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ACD4D0-5BE6-412D-B08B-5DFFD59351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7389BD-8A14-2D46-8945-E48157469D5D}" type="datetime1">
              <a:rPr lang="de-DE" smtClean="0"/>
              <a:t>11.10.26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021651-B786-4A39-A10F-F5231D0A2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504D2D-9379-40DE-9F45-3004BE54F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DB2ADC-AF19-4574-8C10-79B5B04FCA2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9752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362AC-B59F-4AC7-B279-57DDD5336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5" y="922096"/>
            <a:ext cx="10691265" cy="137103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E6042DB-75BD-4EC1-B6D9-8A72EF940C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00635" y="2293126"/>
            <a:ext cx="10691265" cy="36360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DD1378-7C96-4079-B44C-3D86B465759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69448" y="6356350"/>
            <a:ext cx="259259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fld id="{7A05083F-E9A3-6045-8AD1-CC57AEE5D892}" type="datetime1">
              <a:rPr lang="de-DE" smtClean="0"/>
              <a:t>11.10.26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9B6B78-577F-43F5-BAEE-BF72484C98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15383" y="6356350"/>
            <a:ext cx="45397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Nodirbek Usmanov | Befico GmbH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C75B8-AF8F-4D8A-9B3D-D1951A64BA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19012" y="6356350"/>
            <a:ext cx="67235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/>
                </a:solidFill>
              </a:defRPr>
            </a:lvl1pPr>
          </a:lstStyle>
          <a:p>
            <a:fld id="{C3DB2ADC-AF19-4574-8C10-79B5B04FCA27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64F9B95-9045-48D2-B9F3-2927E98F54AA}"/>
              </a:ext>
            </a:extLst>
          </p:cNvPr>
          <p:cNvCxnSpPr>
            <a:cxnSpLocks/>
          </p:cNvCxnSpPr>
          <p:nvPr/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85AA86F-6A4D-4BCB-A045-D992CDC2959B}"/>
              </a:ext>
            </a:extLst>
          </p:cNvPr>
          <p:cNvCxnSpPr>
            <a:cxnSpLocks/>
          </p:cNvCxnSpPr>
          <p:nvPr/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729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 cap="all" spc="3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blog.cleancoder.com/uncle-bob/2014/05/08/SingleReponsibilityPrinciple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8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3" descr="Close-up of yellow flowers over a white background">
            <a:extLst>
              <a:ext uri="{FF2B5EF4-FFF2-40B4-BE49-F238E27FC236}">
                <a16:creationId xmlns:a16="http://schemas.microsoft.com/office/drawing/2014/main" id="{9247C8D3-9784-77E7-9CF8-3FD6435274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4252" t="14226" b="1188"/>
          <a:stretch/>
        </p:blipFill>
        <p:spPr>
          <a:xfrm>
            <a:off x="17425" y="723899"/>
            <a:ext cx="6079389" cy="613408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774B09-7466-9542-A22D-BEF1BF1B1E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627986" y="981110"/>
            <a:ext cx="5897804" cy="3559488"/>
          </a:xfrm>
        </p:spPr>
        <p:txBody>
          <a:bodyPr>
            <a:normAutofit/>
          </a:bodyPr>
          <a:lstStyle/>
          <a:p>
            <a:r>
              <a:rPr lang="de-DE" sz="4800" dirty="0">
                <a:solidFill>
                  <a:srgbClr val="FCE61F"/>
                </a:solidFill>
              </a:rPr>
              <a:t>SINGLE RESPONSIBILITY PRINCIPLE</a:t>
            </a:r>
            <a:br>
              <a:rPr lang="de-DE" sz="3200" dirty="0">
                <a:solidFill>
                  <a:srgbClr val="FCE61F"/>
                </a:solidFill>
              </a:rPr>
            </a:br>
            <a:r>
              <a:rPr lang="de-DE" sz="2400">
                <a:solidFill>
                  <a:srgbClr val="C5B41C"/>
                </a:solidFill>
              </a:rPr>
              <a:t>MiSSUnDERSTOOD</a:t>
            </a:r>
            <a:r>
              <a:rPr lang="de-DE" sz="2400" dirty="0">
                <a:solidFill>
                  <a:srgbClr val="C5B41C"/>
                </a:solidFill>
              </a:rPr>
              <a:t> and UNDERESTIMATED</a:t>
            </a:r>
            <a:endParaRPr lang="en-DE" sz="3200" dirty="0">
              <a:solidFill>
                <a:srgbClr val="C5B41C"/>
              </a:solidFill>
            </a:endParaRPr>
          </a:p>
        </p:txBody>
      </p:sp>
      <p:cxnSp>
        <p:nvCxnSpPr>
          <p:cNvPr id="16" name="Straight Connector 1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723900"/>
            <a:ext cx="5706224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F06E40-3ECB-4820-95B5-8A70B07D4B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23776" y="6134100"/>
            <a:ext cx="566812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ubtitle 2">
            <a:extLst>
              <a:ext uri="{FF2B5EF4-FFF2-40B4-BE49-F238E27FC236}">
                <a16:creationId xmlns:a16="http://schemas.microsoft.com/office/drawing/2014/main" id="{870818AF-88CB-2D4C-BC7C-929C0827727E}"/>
              </a:ext>
            </a:extLst>
          </p:cNvPr>
          <p:cNvSpPr txBox="1">
            <a:spLocks/>
          </p:cNvSpPr>
          <p:nvPr/>
        </p:nvSpPr>
        <p:spPr>
          <a:xfrm>
            <a:off x="5642372" y="4616150"/>
            <a:ext cx="3129562" cy="1442398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60000"/>
              </a:lnSpc>
            </a:pPr>
            <a:r>
              <a:rPr lang="en-GB" sz="13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Nodirbek Usmanov</a:t>
            </a:r>
            <a:br>
              <a:rPr lang="en-GB" sz="13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endParaRPr lang="en-GB" sz="13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  <a:p>
            <a:pPr>
              <a:lnSpc>
                <a:spcPct val="160000"/>
              </a:lnSpc>
            </a:pPr>
            <a:br>
              <a:rPr lang="en-GB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en-GB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https://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linkedin.com</a:t>
            </a:r>
            <a:r>
              <a:rPr lang="en-GB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/in/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nodirbek-usmanov</a:t>
            </a:r>
            <a:br>
              <a:rPr lang="en-GB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</a:br>
            <a:r>
              <a:rPr lang="en-GB" sz="9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        </a:t>
            </a:r>
            <a:r>
              <a:rPr lang="en-GB" sz="900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nodirbek@befico.de</a:t>
            </a:r>
            <a:endParaRPr lang="en-DE" sz="9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pic>
        <p:nvPicPr>
          <p:cNvPr id="7" name="Picture 6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DC4A5070-E569-4217-A45E-B3D944640A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9142" y="5014367"/>
            <a:ext cx="456749" cy="197727"/>
          </a:xfrm>
          <a:prstGeom prst="rect">
            <a:avLst/>
          </a:prstGeom>
        </p:spPr>
      </p:pic>
      <p:pic>
        <p:nvPicPr>
          <p:cNvPr id="6" name="Graphic 5" descr="Address Book outline">
            <a:extLst>
              <a:ext uri="{FF2B5EF4-FFF2-40B4-BE49-F238E27FC236}">
                <a16:creationId xmlns:a16="http://schemas.microsoft.com/office/drawing/2014/main" id="{27146817-C697-A594-F8A2-AD2C8F61A6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39142" y="5651688"/>
            <a:ext cx="179594" cy="179594"/>
          </a:xfrm>
          <a:prstGeom prst="rect">
            <a:avLst/>
          </a:prstGeom>
        </p:spPr>
      </p:pic>
      <p:pic>
        <p:nvPicPr>
          <p:cNvPr id="10" name="Graphic 9" descr="Email outline">
            <a:extLst>
              <a:ext uri="{FF2B5EF4-FFF2-40B4-BE49-F238E27FC236}">
                <a16:creationId xmlns:a16="http://schemas.microsoft.com/office/drawing/2014/main" id="{4C0EA10E-2878-6AFE-D163-60E9EAAECA9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39142" y="5862092"/>
            <a:ext cx="165646" cy="165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5582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F4B6AB-E6A7-ABC7-A8F8-455597371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899024"/>
            <a:ext cx="3076032" cy="391494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INTRO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3716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42C8D4-CBF4-BAF4-B60D-AC31810821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28779" y="1632911"/>
            <a:ext cx="7690156" cy="4171909"/>
          </a:xfrm>
          <a:prstGeom prst="rect">
            <a:avLst/>
          </a:prstGeo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C0F3B6-2C3A-8902-BBFA-F10F1AEB3F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Nodirbek Usmanov | Befico GmbH</a:t>
            </a:r>
          </a:p>
        </p:txBody>
      </p:sp>
    </p:spTree>
    <p:extLst>
      <p:ext uri="{BB962C8B-B14F-4D97-AF65-F5344CB8AC3E}">
        <p14:creationId xmlns:p14="http://schemas.microsoft.com/office/powerpoint/2010/main" val="4692953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615918"/>
            <a:ext cx="2152103" cy="4272816"/>
          </a:xfrm>
        </p:spPr>
        <p:txBody>
          <a:bodyPr>
            <a:normAutofit/>
          </a:bodyPr>
          <a:lstStyle/>
          <a:p>
            <a:r>
              <a:rPr lang="en-GB" sz="2000" dirty="0"/>
              <a:t>Single Responsibility PRINCiPLE</a:t>
            </a:r>
            <a:endParaRPr lang="en-DE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7DD543-A5CD-4348-8624-8B4E57DB5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28265" y="723900"/>
            <a:ext cx="0" cy="5410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BE833F-64D7-F91B-EED9-7B9B41E81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180" y="538843"/>
            <a:ext cx="7518024" cy="5758071"/>
          </a:xfrm>
        </p:spPr>
        <p:txBody>
          <a:bodyPr>
            <a:normAutofit/>
          </a:bodyPr>
          <a:lstStyle/>
          <a:p>
            <a:pPr marL="0" indent="0" algn="ctr">
              <a:lnSpc>
                <a:spcPct val="110000"/>
              </a:lnSpc>
              <a:buNone/>
            </a:pPr>
            <a:endParaRPr lang="en-GB" sz="4000" dirty="0"/>
          </a:p>
          <a:p>
            <a:pPr marL="0" indent="0" algn="ctr">
              <a:lnSpc>
                <a:spcPct val="110000"/>
              </a:lnSpc>
              <a:buNone/>
            </a:pPr>
            <a:endParaRPr lang="en-GB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GB" sz="4000" dirty="0"/>
              <a:t>“A class should have only one reason to change.”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Robert C. </a:t>
            </a:r>
            <a:r>
              <a:rPr lang="en-GB" sz="1400" dirty="0" err="1">
                <a:solidFill>
                  <a:schemeClr val="bg1">
                    <a:lumMod val="65000"/>
                  </a:schemeClr>
                </a:solidFill>
              </a:rPr>
              <a:t>Martin,“Agile</a:t>
            </a:r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 Software Development: Principles, Patterns, and Practices”, 2002</a:t>
            </a:r>
            <a:endParaRPr lang="en-D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14F68-22A9-6ABF-3D5C-6DEAD406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Nodirbek Usmanov | Befico GmbH</a:t>
            </a:r>
          </a:p>
        </p:txBody>
      </p:sp>
    </p:spTree>
    <p:extLst>
      <p:ext uri="{BB962C8B-B14F-4D97-AF65-F5344CB8AC3E}">
        <p14:creationId xmlns:p14="http://schemas.microsoft.com/office/powerpoint/2010/main" val="2846341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87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F64F9B95-9045-48D2-B9F3-2927E98F54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85AA86F-6A4D-4BCB-A045-D992CDC29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33E93247-6229-44AB-A550-739E971E6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White paper ships being led by a yellow ship">
            <a:extLst>
              <a:ext uri="{FF2B5EF4-FFF2-40B4-BE49-F238E27FC236}">
                <a16:creationId xmlns:a16="http://schemas.microsoft.com/office/drawing/2014/main" id="{1C8BEC72-10A2-3A81-A83C-102ACEF665C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4944" b="787"/>
          <a:stretch/>
        </p:blipFill>
        <p:spPr>
          <a:xfrm>
            <a:off x="-1" y="7160"/>
            <a:ext cx="12191980" cy="685799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B6B482-ACCA-4938-8AEA-49D525C172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46905" y="46904"/>
            <a:ext cx="6865150" cy="6771342"/>
          </a:xfrm>
          <a:prstGeom prst="rect">
            <a:avLst/>
          </a:prstGeom>
          <a:gradFill>
            <a:gsLst>
              <a:gs pos="42000">
                <a:srgbClr val="000000">
                  <a:alpha val="18000"/>
                </a:srgbClr>
              </a:gs>
              <a:gs pos="0">
                <a:srgbClr val="000000">
                  <a:alpha val="0"/>
                </a:srgbClr>
              </a:gs>
              <a:gs pos="100000">
                <a:srgbClr val="000000">
                  <a:alpha val="39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871759"/>
            <a:ext cx="7581899" cy="3497042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800" dirty="0">
                <a:ln w="6350">
                  <a:solidFill>
                    <a:schemeClr val="tx1">
                      <a:alpha val="10000"/>
                    </a:schemeClr>
                  </a:solidFill>
                </a:ln>
                <a:solidFill>
                  <a:srgbClr val="FFFFFF"/>
                </a:solidFill>
              </a:rPr>
              <a:t>Single Responsibility PRINCiPLE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E2E603F-4A95-4FE8-BB06-211DFD75DB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rgbClr val="FFFFFF"/>
            </a:solidFill>
          </a:ln>
          <a:effectLst>
            <a:outerShdw blurRad="50800" dist="38100" dir="2700000" algn="tl" rotWithShape="0">
              <a:prstClr val="black">
                <a:alpha val="13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14F68-22A9-6ABF-3D5C-6DEAD406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rgbClr val="FFFFFF"/>
                </a:solidFill>
                <a:latin typeface="+mj-lt"/>
                <a:ea typeface="+mn-ea"/>
                <a:cs typeface="+mn-cs"/>
              </a:rPr>
              <a:t>Nodirbek Usmanov | Befico GmbH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B2420BF-EC91-6662-EF80-35B49018861D}"/>
              </a:ext>
            </a:extLst>
          </p:cNvPr>
          <p:cNvSpPr txBox="1">
            <a:spLocks/>
          </p:cNvSpPr>
          <p:nvPr/>
        </p:nvSpPr>
        <p:spPr>
          <a:xfrm>
            <a:off x="1358020" y="2620279"/>
            <a:ext cx="5187823" cy="149904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4000" kern="1200" cap="all" spc="3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90000"/>
              </a:lnSpc>
            </a:pPr>
            <a:r>
              <a:rPr lang="en-US" sz="2800" dirty="0">
                <a:solidFill>
                  <a:srgbClr val="FFFFFF"/>
                </a:solidFill>
              </a:rPr>
              <a:t>Is one of the simplest of the  principles, and one of the hardest to get</a:t>
            </a:r>
          </a:p>
        </p:txBody>
      </p:sp>
    </p:spTree>
    <p:extLst>
      <p:ext uri="{BB962C8B-B14F-4D97-AF65-F5344CB8AC3E}">
        <p14:creationId xmlns:p14="http://schemas.microsoft.com/office/powerpoint/2010/main" val="35086811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5324" y="615918"/>
            <a:ext cx="2152103" cy="4272816"/>
          </a:xfrm>
        </p:spPr>
        <p:txBody>
          <a:bodyPr>
            <a:normAutofit/>
          </a:bodyPr>
          <a:lstStyle/>
          <a:p>
            <a:r>
              <a:rPr lang="en-GB" sz="2000" dirty="0"/>
              <a:t>Single Responsibility PRINCiPLE (SRP)</a:t>
            </a:r>
            <a:endParaRPr lang="en-DE" sz="2000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57DD543-A5CD-4348-8624-8B4E57DB5F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28265" y="723900"/>
            <a:ext cx="0" cy="5410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ABE833F-64D7-F91B-EED9-7B9B41E81B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18180" y="538843"/>
            <a:ext cx="7518024" cy="5758071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lnSpc>
                <a:spcPct val="110000"/>
              </a:lnSpc>
              <a:buNone/>
            </a:pPr>
            <a:endParaRPr lang="en-GB" sz="4000" dirty="0"/>
          </a:p>
          <a:p>
            <a:pPr marL="0" indent="0" algn="ctr">
              <a:lnSpc>
                <a:spcPct val="110000"/>
              </a:lnSpc>
              <a:buNone/>
            </a:pPr>
            <a:endParaRPr lang="en-GB" sz="40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GB" sz="4000" dirty="0"/>
              <a:t>“In context of SRP, we define </a:t>
            </a:r>
          </a:p>
          <a:p>
            <a:pPr marL="0" indent="0" algn="ctr">
              <a:lnSpc>
                <a:spcPct val="110000"/>
              </a:lnSpc>
              <a:buNone/>
            </a:pPr>
            <a:r>
              <a:rPr lang="en-GB" sz="4000" dirty="0"/>
              <a:t>a responsibility </a:t>
            </a:r>
            <a:br>
              <a:rPr lang="en-GB" sz="4000" dirty="0"/>
            </a:br>
            <a:r>
              <a:rPr lang="en-GB" sz="4000" dirty="0"/>
              <a:t>to be</a:t>
            </a:r>
            <a:br>
              <a:rPr lang="en-GB" sz="4000" dirty="0"/>
            </a:br>
            <a:r>
              <a:rPr lang="en-GB" sz="4000" i="1" dirty="0"/>
              <a:t>a reason for change</a:t>
            </a:r>
            <a:r>
              <a:rPr lang="en-GB" sz="4000" dirty="0"/>
              <a:t>.”</a:t>
            </a: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br>
              <a:rPr lang="en-GB" sz="2800" dirty="0"/>
            </a:br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Robert C. </a:t>
            </a:r>
            <a:r>
              <a:rPr lang="en-GB" sz="1400" dirty="0" err="1">
                <a:solidFill>
                  <a:schemeClr val="bg1">
                    <a:lumMod val="65000"/>
                  </a:schemeClr>
                </a:solidFill>
              </a:rPr>
              <a:t>Martin,“Agile</a:t>
            </a:r>
            <a:r>
              <a:rPr lang="en-GB" sz="1400" dirty="0">
                <a:solidFill>
                  <a:schemeClr val="bg1">
                    <a:lumMod val="65000"/>
                  </a:schemeClr>
                </a:solidFill>
              </a:rPr>
              <a:t> Software Development: Principles, Patterns, and Practices”, 2002</a:t>
            </a:r>
            <a:endParaRPr lang="en-DE" sz="2800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8B14F68-22A9-6ABF-3D5C-6DEAD4061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Nodirbek Usmanov | Befico GmbH</a:t>
            </a:r>
          </a:p>
        </p:txBody>
      </p:sp>
    </p:spTree>
    <p:extLst>
      <p:ext uri="{BB962C8B-B14F-4D97-AF65-F5344CB8AC3E}">
        <p14:creationId xmlns:p14="http://schemas.microsoft.com/office/powerpoint/2010/main" val="839939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Single Responsibility Principle</a:t>
            </a:r>
            <a:br>
              <a:rPr lang="en-GB" dirty="0"/>
            </a:br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“A class should have only one reason to change.”  -  Robert C. Martin</a:t>
            </a:r>
            <a:endParaRPr lang="en-D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Nodirbek</a:t>
            </a:r>
            <a:r>
              <a:rPr lang="en-US" dirty="0"/>
              <a:t> Usmanov | </a:t>
            </a:r>
            <a:r>
              <a:rPr lang="en-US" dirty="0" err="1"/>
              <a:t>Befico</a:t>
            </a:r>
            <a:r>
              <a:rPr lang="en-US" dirty="0"/>
              <a:t>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A5EA9D-979B-F2D0-2D9D-7D6344C8859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81324" y="2822609"/>
            <a:ext cx="4936574" cy="2436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49191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Responsibility</a:t>
            </a:r>
            <a:endParaRPr lang="en-D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Nodirbek</a:t>
            </a:r>
            <a:r>
              <a:rPr lang="en-US" dirty="0"/>
              <a:t> Usmanov | </a:t>
            </a:r>
            <a:r>
              <a:rPr lang="en-US" dirty="0" err="1"/>
              <a:t>Befico</a:t>
            </a:r>
            <a:r>
              <a:rPr lang="en-US" dirty="0"/>
              <a:t>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A5EA9D-979B-F2D0-2D9D-7D6344C8859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81324" y="2822609"/>
            <a:ext cx="4936574" cy="2436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0972D2-F8B0-C4E7-A5D5-B1C006613A9F}"/>
              </a:ext>
            </a:extLst>
          </p:cNvPr>
          <p:cNvSpPr txBox="1"/>
          <p:nvPr/>
        </p:nvSpPr>
        <p:spPr>
          <a:xfrm>
            <a:off x="2917212" y="2036139"/>
            <a:ext cx="47906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How many responsibilities does this class have?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050788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Responsibility</a:t>
            </a:r>
            <a:endParaRPr lang="en-D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Nodirbek</a:t>
            </a:r>
            <a:r>
              <a:rPr lang="en-US" dirty="0"/>
              <a:t> Usmanov | </a:t>
            </a:r>
            <a:r>
              <a:rPr lang="en-US" dirty="0" err="1"/>
              <a:t>Befico</a:t>
            </a:r>
            <a:r>
              <a:rPr lang="en-US" dirty="0"/>
              <a:t>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A5EA9D-979B-F2D0-2D9D-7D6344C8859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81324" y="2822609"/>
            <a:ext cx="4936574" cy="243602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10972D2-F8B0-C4E7-A5D5-B1C006613A9F}"/>
              </a:ext>
            </a:extLst>
          </p:cNvPr>
          <p:cNvSpPr txBox="1"/>
          <p:nvPr/>
        </p:nvSpPr>
        <p:spPr>
          <a:xfrm>
            <a:off x="2917212" y="2036139"/>
            <a:ext cx="50263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How many responsibilities does this class have?  3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341293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CONCLUSION – VIOLATES SRP</a:t>
            </a:r>
            <a:endParaRPr lang="en-DE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err="1"/>
              <a:t>Nodirbek</a:t>
            </a:r>
            <a:r>
              <a:rPr lang="en-US" dirty="0"/>
              <a:t> Usmanov | </a:t>
            </a:r>
            <a:r>
              <a:rPr lang="en-US" dirty="0" err="1"/>
              <a:t>Befico</a:t>
            </a:r>
            <a:r>
              <a:rPr lang="en-US" dirty="0"/>
              <a:t>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A5EA9D-979B-F2D0-2D9D-7D6344C8859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681324" y="2822609"/>
            <a:ext cx="4936574" cy="24360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6537474-08A4-9E3D-FC04-E18C2BAD01D7}"/>
              </a:ext>
            </a:extLst>
          </p:cNvPr>
          <p:cNvSpPr txBox="1"/>
          <p:nvPr/>
        </p:nvSpPr>
        <p:spPr>
          <a:xfrm>
            <a:off x="7617898" y="2717984"/>
            <a:ext cx="438036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class knows about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business rules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databases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reports and 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Responsibilities &gt;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of these responsibilities will cause </a:t>
            </a:r>
            <a:br>
              <a:rPr lang="en-GB" dirty="0"/>
            </a:br>
            <a:r>
              <a:rPr lang="en-GB" dirty="0"/>
              <a:t>the employee class to use other classes </a:t>
            </a:r>
            <a:br>
              <a:rPr lang="en-GB" dirty="0"/>
            </a:br>
            <a:r>
              <a:rPr lang="en-GB" dirty="0"/>
              <a:t>in the system.</a:t>
            </a:r>
            <a:endParaRPr lang="en-DE" dirty="0"/>
          </a:p>
        </p:txBody>
      </p:sp>
      <p:sp>
        <p:nvSpPr>
          <p:cNvPr id="8" name="Lightning Bolt 7">
            <a:extLst>
              <a:ext uri="{FF2B5EF4-FFF2-40B4-BE49-F238E27FC236}">
                <a16:creationId xmlns:a16="http://schemas.microsoft.com/office/drawing/2014/main" id="{DA133AE7-D27C-EA20-0ABD-CDE9A2A8861F}"/>
              </a:ext>
            </a:extLst>
          </p:cNvPr>
          <p:cNvSpPr/>
          <p:nvPr/>
        </p:nvSpPr>
        <p:spPr>
          <a:xfrm>
            <a:off x="8170966" y="1479060"/>
            <a:ext cx="674765" cy="1257018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4915156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Responsibility</a:t>
            </a:r>
            <a:endParaRPr lang="en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B9239-13F9-AC01-8AE7-5014A89E39F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812568" y="2797200"/>
            <a:ext cx="4109990" cy="2245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A28558-9421-6899-4826-33F41C3DCCF1}"/>
              </a:ext>
            </a:extLst>
          </p:cNvPr>
          <p:cNvSpPr txBox="1"/>
          <p:nvPr/>
        </p:nvSpPr>
        <p:spPr>
          <a:xfrm>
            <a:off x="2701467" y="2054914"/>
            <a:ext cx="7892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How many responsibilities does this class have?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9015458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Responsibility</a:t>
            </a:r>
            <a:endParaRPr lang="en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B9239-13F9-AC01-8AE7-5014A89E39F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812568" y="2797200"/>
            <a:ext cx="4109990" cy="2245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A28558-9421-6899-4826-33F41C3DCCF1}"/>
              </a:ext>
            </a:extLst>
          </p:cNvPr>
          <p:cNvSpPr txBox="1"/>
          <p:nvPr/>
        </p:nvSpPr>
        <p:spPr>
          <a:xfrm>
            <a:off x="2701467" y="2054914"/>
            <a:ext cx="78922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How many responsibilities does this class have?  3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28205151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Responsibility</a:t>
            </a:r>
            <a:endParaRPr lang="en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2EB9239-13F9-AC01-8AE7-5014A89E39FA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812568" y="2797200"/>
            <a:ext cx="4109990" cy="22450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CA28558-9421-6899-4826-33F41C3DCCF1}"/>
              </a:ext>
            </a:extLst>
          </p:cNvPr>
          <p:cNvSpPr txBox="1"/>
          <p:nvPr/>
        </p:nvSpPr>
        <p:spPr>
          <a:xfrm>
            <a:off x="2594261" y="1935233"/>
            <a:ext cx="7892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Let us add a new function to the class.</a:t>
            </a:r>
            <a:br>
              <a:rPr lang="en-GB" dirty="0"/>
            </a:br>
            <a:r>
              <a:rPr lang="en-GB" dirty="0"/>
              <a:t>How many responsibilities does this class have?</a:t>
            </a:r>
            <a:endParaRPr lang="en-DE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D4D494-5D25-4E94-6CF5-5EEBAE5F6801}"/>
              </a:ext>
            </a:extLst>
          </p:cNvPr>
          <p:cNvSpPr txBox="1"/>
          <p:nvPr/>
        </p:nvSpPr>
        <p:spPr>
          <a:xfrm>
            <a:off x="5849239" y="4290010"/>
            <a:ext cx="367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DE" dirty="0">
                <a:solidFill>
                  <a:srgbClr val="C5B41C"/>
                </a:solidFill>
              </a:rPr>
              <a:t>+ findById  </a:t>
            </a:r>
            <a:r>
              <a:rPr lang="en-DE" dirty="0"/>
              <a:t>- Finds a student by id</a:t>
            </a:r>
          </a:p>
        </p:txBody>
      </p:sp>
      <p:sp>
        <p:nvSpPr>
          <p:cNvPr id="8" name="Down Arrow 7">
            <a:extLst>
              <a:ext uri="{FF2B5EF4-FFF2-40B4-BE49-F238E27FC236}">
                <a16:creationId xmlns:a16="http://schemas.microsoft.com/office/drawing/2014/main" id="{40BC02C6-2969-6FCB-37ED-18CFEA5AE8C9}"/>
              </a:ext>
            </a:extLst>
          </p:cNvPr>
          <p:cNvSpPr/>
          <p:nvPr/>
        </p:nvSpPr>
        <p:spPr>
          <a:xfrm rot="5935719">
            <a:off x="4637387" y="3410999"/>
            <a:ext cx="460353" cy="1915108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687347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Responsibility</a:t>
            </a:r>
            <a:endParaRPr lang="en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A28558-9421-6899-4826-33F41C3DCCF1}"/>
              </a:ext>
            </a:extLst>
          </p:cNvPr>
          <p:cNvSpPr txBox="1"/>
          <p:nvPr/>
        </p:nvSpPr>
        <p:spPr>
          <a:xfrm>
            <a:off x="2688854" y="2024611"/>
            <a:ext cx="7892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br>
              <a:rPr lang="en-GB" dirty="0"/>
            </a:br>
            <a:r>
              <a:rPr lang="en-GB" dirty="0"/>
              <a:t>How many responsibilities does this class have? 3</a:t>
            </a:r>
            <a:endParaRPr lang="en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DCEE99-BC43-14F7-83C3-86538962C3E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95160" y="2855748"/>
            <a:ext cx="4222238" cy="215410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973E9A1-A787-92BA-5167-E924856018F8}"/>
              </a:ext>
            </a:extLst>
          </p:cNvPr>
          <p:cNvSpPr txBox="1"/>
          <p:nvPr/>
        </p:nvSpPr>
        <p:spPr>
          <a:xfrm>
            <a:off x="6986766" y="3959648"/>
            <a:ext cx="46703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same family as save, both database functions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49542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CONCLUSION – VIOLATES SRP</a:t>
            </a:r>
            <a:endParaRPr lang="en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5DCEE99-BC43-14F7-83C3-86538962C3E0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695160" y="2855748"/>
            <a:ext cx="4222238" cy="215410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4613A0D-E86C-34F0-D68E-69D1E30085DD}"/>
              </a:ext>
            </a:extLst>
          </p:cNvPr>
          <p:cNvSpPr txBox="1"/>
          <p:nvPr/>
        </p:nvSpPr>
        <p:spPr>
          <a:xfrm>
            <a:off x="7617898" y="2717984"/>
            <a:ext cx="4380366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class knows about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business rules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databases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reports and formatting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Responsibilities &gt; 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Each of these responsibilities will cause </a:t>
            </a:r>
            <a:br>
              <a:rPr lang="en-GB" dirty="0"/>
            </a:br>
            <a:r>
              <a:rPr lang="en-GB" dirty="0"/>
              <a:t>the student class to use other classes </a:t>
            </a:r>
            <a:br>
              <a:rPr lang="en-GB" dirty="0"/>
            </a:br>
            <a:r>
              <a:rPr lang="en-GB" dirty="0"/>
              <a:t>in the system.</a:t>
            </a:r>
            <a:endParaRPr lang="en-DE" dirty="0"/>
          </a:p>
        </p:txBody>
      </p:sp>
      <p:sp>
        <p:nvSpPr>
          <p:cNvPr id="6" name="Lightning Bolt 5">
            <a:extLst>
              <a:ext uri="{FF2B5EF4-FFF2-40B4-BE49-F238E27FC236}">
                <a16:creationId xmlns:a16="http://schemas.microsoft.com/office/drawing/2014/main" id="{B9FE5300-E811-C77E-91F8-7D8801FE3055}"/>
              </a:ext>
            </a:extLst>
          </p:cNvPr>
          <p:cNvSpPr/>
          <p:nvPr/>
        </p:nvSpPr>
        <p:spPr>
          <a:xfrm>
            <a:off x="8170966" y="1479060"/>
            <a:ext cx="674765" cy="1257018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5997027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49D7415-2F11-44C2-B6AA-13A25B6814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0587" y="907128"/>
            <a:ext cx="6699564" cy="1378871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GB" sz="2800" dirty="0" err="1">
                <a:solidFill>
                  <a:srgbClr val="FCE61F"/>
                </a:solidFill>
              </a:rPr>
              <a:t>RESPONSIBILiTY</a:t>
            </a:r>
            <a:r>
              <a:rPr lang="en-GB" sz="2800" dirty="0">
                <a:solidFill>
                  <a:srgbClr val="FCE61F"/>
                </a:solidFill>
              </a:rPr>
              <a:t> – SOURCE OF CHANGE</a:t>
            </a:r>
            <a:endParaRPr lang="en-US" sz="2500" kern="1200" cap="all" spc="30" baseline="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2E57F3D-33BE-4306-87E6-2457637195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65151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CA28558-9421-6899-4826-33F41C3DCCF1}"/>
              </a:ext>
            </a:extLst>
          </p:cNvPr>
          <p:cNvSpPr txBox="1"/>
          <p:nvPr/>
        </p:nvSpPr>
        <p:spPr>
          <a:xfrm>
            <a:off x="695326" y="2285999"/>
            <a:ext cx="6991940" cy="3649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The SRP is about users</a:t>
            </a:r>
          </a:p>
          <a:p>
            <a:pPr indent="-228600">
              <a:lnSpc>
                <a:spcPct val="12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Who are the users, who add changes to that method?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A3C59D-8641-484F-A35C-361AD7E155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32521"/>
            <a:ext cx="65151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kern="1200">
                <a:solidFill>
                  <a:schemeClr val="tx1"/>
                </a:solidFill>
                <a:latin typeface="+mj-lt"/>
                <a:ea typeface="+mn-ea"/>
                <a:cs typeface="+mn-cs"/>
              </a:rPr>
              <a:t>Nodirbek Usmanov | Befico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1446B-2EB9-B4B8-6630-E906806801A8}"/>
              </a:ext>
            </a:extLst>
          </p:cNvPr>
          <p:cNvSpPr txBox="1"/>
          <p:nvPr/>
        </p:nvSpPr>
        <p:spPr>
          <a:xfrm>
            <a:off x="4234470" y="2025181"/>
            <a:ext cx="10206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/>
          </a:bodyPr>
          <a:lstStyle/>
          <a:p>
            <a:pPr marL="0" indent="0">
              <a:lnSpc>
                <a:spcPct val="110000"/>
              </a:lnSpc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  <a:endParaRPr lang="en-GB"/>
          </a:p>
          <a:p>
            <a:pPr marL="0" indent="0">
              <a:lnSpc>
                <a:spcPct val="110000"/>
              </a:lnSpc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>
              <a:solidFill>
                <a:srgbClr val="CC7832"/>
              </a:solidFill>
              <a:effectLst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  <a:endParaRPr lang="en-GB" i="1">
              <a:effectLst/>
            </a:endParaRPr>
          </a:p>
          <a:p>
            <a:pPr marL="0" indent="0">
              <a:lnSpc>
                <a:spcPct val="110000"/>
              </a:lnSpc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62460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Responsibility</a:t>
            </a:r>
            <a:br>
              <a:rPr lang="en-GB" dirty="0"/>
            </a:br>
            <a:r>
              <a:rPr lang="en-GB" sz="1400" dirty="0">
                <a:solidFill>
                  <a:schemeClr val="bg1">
                    <a:lumMod val="75000"/>
                  </a:schemeClr>
                </a:solidFill>
              </a:rPr>
              <a:t>Who are the people, who are the sources of change for the STUDENT class? </a:t>
            </a:r>
            <a:endParaRPr lang="en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C592A-D7EE-5A03-3DF8-4965F844F02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39" y="2492027"/>
            <a:ext cx="4862087" cy="2969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607068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Single Responsibility PRINCIPLE</a:t>
            </a:r>
            <a:br>
              <a:rPr lang="en-GB" sz="4400" dirty="0">
                <a:solidFill>
                  <a:srgbClr val="FCE61F"/>
                </a:solidFill>
              </a:rPr>
            </a:br>
            <a:r>
              <a:rPr lang="en-GB" sz="1400" dirty="0">
                <a:solidFill>
                  <a:schemeClr val="bg1">
                    <a:lumMod val="50000"/>
                  </a:schemeClr>
                </a:solidFill>
              </a:rPr>
              <a:t>“A class should have only one reason to change.”  -  Robert C. Martin</a:t>
            </a:r>
            <a:endParaRPr lang="en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C592A-D7EE-5A03-3DF8-4965F844F02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824066" y="2454668"/>
            <a:ext cx="4862087" cy="2969148"/>
          </a:xfrm>
          <a:prstGeom prst="rect">
            <a:avLst/>
          </a:prstGeom>
        </p:spPr>
      </p:pic>
      <p:pic>
        <p:nvPicPr>
          <p:cNvPr id="9" name="Graphic 8" descr="Magnifying glass outline">
            <a:extLst>
              <a:ext uri="{FF2B5EF4-FFF2-40B4-BE49-F238E27FC236}">
                <a16:creationId xmlns:a16="http://schemas.microsoft.com/office/drawing/2014/main" id="{53115503-65BB-F2A1-7D89-6E52E457D7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91563" y="2181748"/>
            <a:ext cx="4539727" cy="4539727"/>
          </a:xfrm>
          <a:prstGeom prst="rect">
            <a:avLst/>
          </a:prstGeom>
        </p:spPr>
      </p:pic>
      <p:sp>
        <p:nvSpPr>
          <p:cNvPr id="10" name="Lightning Bolt 9">
            <a:extLst>
              <a:ext uri="{FF2B5EF4-FFF2-40B4-BE49-F238E27FC236}">
                <a16:creationId xmlns:a16="http://schemas.microsoft.com/office/drawing/2014/main" id="{9E555D30-A6CE-D562-F0E5-2740CC83A5D7}"/>
              </a:ext>
            </a:extLst>
          </p:cNvPr>
          <p:cNvSpPr/>
          <p:nvPr/>
        </p:nvSpPr>
        <p:spPr>
          <a:xfrm>
            <a:off x="1444121" y="4408039"/>
            <a:ext cx="674765" cy="1257018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1" name="Lightning Bolt 10">
            <a:extLst>
              <a:ext uri="{FF2B5EF4-FFF2-40B4-BE49-F238E27FC236}">
                <a16:creationId xmlns:a16="http://schemas.microsoft.com/office/drawing/2014/main" id="{D47292C3-2F99-EC8B-9AAB-4E81BAC3F203}"/>
              </a:ext>
            </a:extLst>
          </p:cNvPr>
          <p:cNvSpPr/>
          <p:nvPr/>
        </p:nvSpPr>
        <p:spPr>
          <a:xfrm>
            <a:off x="3474474" y="5281894"/>
            <a:ext cx="674765" cy="1257018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3" name="Lightning Bolt 12">
            <a:extLst>
              <a:ext uri="{FF2B5EF4-FFF2-40B4-BE49-F238E27FC236}">
                <a16:creationId xmlns:a16="http://schemas.microsoft.com/office/drawing/2014/main" id="{F0BE5DFB-97F5-909C-A3EA-B0E29FCEC681}"/>
              </a:ext>
            </a:extLst>
          </p:cNvPr>
          <p:cNvSpPr/>
          <p:nvPr/>
        </p:nvSpPr>
        <p:spPr>
          <a:xfrm>
            <a:off x="1480693" y="2531566"/>
            <a:ext cx="674765" cy="1257018"/>
          </a:xfrm>
          <a:prstGeom prst="lightningBol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A6D368B-6592-1168-9069-C1C88B9BCDCD}"/>
              </a:ext>
            </a:extLst>
          </p:cNvPr>
          <p:cNvSpPr txBox="1"/>
          <p:nvPr/>
        </p:nvSpPr>
        <p:spPr>
          <a:xfrm>
            <a:off x="1090749" y="2090367"/>
            <a:ext cx="468303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2800" dirty="0">
                <a:highlight>
                  <a:srgbClr val="FCE61F"/>
                </a:highlight>
              </a:rPr>
              <a:t>Focuses the left side – classes!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CE1FFE3-9850-325D-4E97-0561DF4D3FB0}"/>
              </a:ext>
            </a:extLst>
          </p:cNvPr>
          <p:cNvSpPr/>
          <p:nvPr/>
        </p:nvSpPr>
        <p:spPr>
          <a:xfrm>
            <a:off x="5617029" y="2181748"/>
            <a:ext cx="2527662" cy="3242068"/>
          </a:xfrm>
          <a:prstGeom prst="rect">
            <a:avLst/>
          </a:prstGeom>
          <a:solidFill>
            <a:srgbClr val="FFFFFF">
              <a:alpha val="76863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829884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Single Responsibility PRINCIPLE</a:t>
            </a:r>
            <a:br>
              <a:rPr lang="en-GB" dirty="0"/>
            </a:br>
            <a:r>
              <a:rPr lang="en-GB" sz="1400" dirty="0">
                <a:solidFill>
                  <a:schemeClr val="bg1">
                    <a:lumMod val="75000"/>
                  </a:schemeClr>
                </a:solidFill>
              </a:rPr>
              <a:t>responsibility is a family of functions that serves one particular actor</a:t>
            </a:r>
            <a:endParaRPr lang="en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CC592A-D7EE-5A03-3DF8-4965F844F027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2824066" y="2454668"/>
            <a:ext cx="4862087" cy="2969148"/>
          </a:xfrm>
          <a:prstGeom prst="rect">
            <a:avLst/>
          </a:prstGeom>
        </p:spPr>
      </p:pic>
      <p:pic>
        <p:nvPicPr>
          <p:cNvPr id="9" name="Graphic 8" descr="Magnifying glass outline">
            <a:extLst>
              <a:ext uri="{FF2B5EF4-FFF2-40B4-BE49-F238E27FC236}">
                <a16:creationId xmlns:a16="http://schemas.microsoft.com/office/drawing/2014/main" id="{53115503-65BB-F2A1-7D89-6E52E457D7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430361" y="1603619"/>
            <a:ext cx="5806778" cy="5806778"/>
          </a:xfrm>
          <a:prstGeom prst="rect">
            <a:avLst/>
          </a:prstGeom>
        </p:spPr>
      </p:pic>
      <p:sp>
        <p:nvSpPr>
          <p:cNvPr id="6" name="Heart 5">
            <a:extLst>
              <a:ext uri="{FF2B5EF4-FFF2-40B4-BE49-F238E27FC236}">
                <a16:creationId xmlns:a16="http://schemas.microsoft.com/office/drawing/2014/main" id="{E9629F5F-8815-066A-0C3F-BF41301DE158}"/>
              </a:ext>
            </a:extLst>
          </p:cNvPr>
          <p:cNvSpPr/>
          <p:nvPr/>
        </p:nvSpPr>
        <p:spPr>
          <a:xfrm>
            <a:off x="3289831" y="5281894"/>
            <a:ext cx="859408" cy="690889"/>
          </a:xfrm>
          <a:prstGeom prst="hear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7" name="Heart 6">
            <a:extLst>
              <a:ext uri="{FF2B5EF4-FFF2-40B4-BE49-F238E27FC236}">
                <a16:creationId xmlns:a16="http://schemas.microsoft.com/office/drawing/2014/main" id="{7E3999BE-C38C-065C-7861-5F2558663D24}"/>
              </a:ext>
            </a:extLst>
          </p:cNvPr>
          <p:cNvSpPr/>
          <p:nvPr/>
        </p:nvSpPr>
        <p:spPr>
          <a:xfrm>
            <a:off x="1314680" y="4591005"/>
            <a:ext cx="859408" cy="690889"/>
          </a:xfrm>
          <a:prstGeom prst="hear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8" name="Heart 7">
            <a:extLst>
              <a:ext uri="{FF2B5EF4-FFF2-40B4-BE49-F238E27FC236}">
                <a16:creationId xmlns:a16="http://schemas.microsoft.com/office/drawing/2014/main" id="{570B97F3-ADC0-FEC6-4004-58576B73ACD4}"/>
              </a:ext>
            </a:extLst>
          </p:cNvPr>
          <p:cNvSpPr/>
          <p:nvPr/>
        </p:nvSpPr>
        <p:spPr>
          <a:xfrm>
            <a:off x="1685423" y="2676693"/>
            <a:ext cx="859408" cy="690889"/>
          </a:xfrm>
          <a:prstGeom prst="heart">
            <a:avLst/>
          </a:prstGeom>
          <a:solidFill>
            <a:srgbClr val="00FF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5" name="Graphic 14" descr="Tick with solid fill">
            <a:extLst>
              <a:ext uri="{FF2B5EF4-FFF2-40B4-BE49-F238E27FC236}">
                <a16:creationId xmlns:a16="http://schemas.microsoft.com/office/drawing/2014/main" id="{86A1570B-FFFD-0B51-687B-F537468B58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835248" y="4022049"/>
            <a:ext cx="914400" cy="91440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FFEB002F-263C-99CD-2E5F-9520585BC25E}"/>
              </a:ext>
            </a:extLst>
          </p:cNvPr>
          <p:cNvSpPr txBox="1"/>
          <p:nvPr/>
        </p:nvSpPr>
        <p:spPr>
          <a:xfrm>
            <a:off x="6096000" y="1905701"/>
            <a:ext cx="5030244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DE" sz="2800" dirty="0">
                <a:highlight>
                  <a:srgbClr val="FCE61F"/>
                </a:highlight>
              </a:rPr>
              <a:t>Focuses the right side – actors!</a:t>
            </a:r>
          </a:p>
        </p:txBody>
      </p:sp>
    </p:spTree>
    <p:extLst>
      <p:ext uri="{BB962C8B-B14F-4D97-AF65-F5344CB8AC3E}">
        <p14:creationId xmlns:p14="http://schemas.microsoft.com/office/powerpoint/2010/main" val="4656253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E423DFCF-3B37-4389-873D-3308EBD44D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3228265" y="723900"/>
            <a:ext cx="0" cy="54102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9A7A4-AAD9-0CF6-801C-CCFDEE728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0111" y="5841978"/>
            <a:ext cx="3632051" cy="292122"/>
          </a:xfrm>
        </p:spPr>
        <p:txBody>
          <a:bodyPr/>
          <a:lstStyle/>
          <a:p>
            <a:pPr defTabSz="731520">
              <a:spcAft>
                <a:spcPts val="600"/>
              </a:spcAft>
            </a:pPr>
            <a:r>
              <a:rPr lang="en-US" sz="840" kern="120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Nodirbek</a:t>
            </a:r>
            <a:r>
              <a:rPr lang="en-US" sz="84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Usmanov | </a:t>
            </a:r>
            <a:r>
              <a:rPr lang="en-US" sz="840" kern="120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Befico</a:t>
            </a:r>
            <a:r>
              <a:rPr lang="en-US" sz="84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GmbH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FB8C0-4C56-D2A0-1F13-1054C7F61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7800" y="1657923"/>
            <a:ext cx="3324362" cy="2909086"/>
          </a:xfrm>
        </p:spPr>
        <p:txBody>
          <a:bodyPr/>
          <a:lstStyle/>
          <a:p>
            <a:pPr marL="0" indent="0" defTabSz="731520">
              <a:spcBef>
                <a:spcPts val="800"/>
              </a:spcBef>
              <a:buNone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SINGLE RESPONSIBILITY PRINCIPLE</a:t>
            </a:r>
          </a:p>
          <a:p>
            <a:pPr marL="0" indent="0" defTabSz="731520">
              <a:spcBef>
                <a:spcPts val="800"/>
              </a:spcBef>
              <a:buNone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731520">
              <a:spcBef>
                <a:spcPts val="800"/>
              </a:spcBef>
              <a:buNone/>
            </a:pPr>
            <a:r>
              <a:rPr lang="en-GB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“A class should have only one reason to change.”  </a:t>
            </a:r>
          </a:p>
          <a:p>
            <a:pPr marL="0" indent="0" defTabSz="731520">
              <a:spcBef>
                <a:spcPts val="800"/>
              </a:spcBef>
              <a:buNone/>
            </a:pPr>
            <a:endParaRPr lang="en-GB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731520">
              <a:spcBef>
                <a:spcPts val="800"/>
              </a:spcBef>
              <a:buNone/>
            </a:pPr>
            <a:endParaRPr lang="en-GB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731520">
              <a:spcBef>
                <a:spcPts val="800"/>
              </a:spcBef>
              <a:buNone/>
            </a:pPr>
            <a:br>
              <a:rPr lang="en-GB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Robert C. Martin, 2002</a:t>
            </a:r>
            <a:endParaRPr lang="en-DE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E697D5B-B048-EF77-4A51-7E16C6D7E6B8}"/>
              </a:ext>
            </a:extLst>
          </p:cNvPr>
          <p:cNvSpPr txBox="1">
            <a:spLocks/>
          </p:cNvSpPr>
          <p:nvPr/>
        </p:nvSpPr>
        <p:spPr>
          <a:xfrm>
            <a:off x="8105639" y="1657923"/>
            <a:ext cx="3324362" cy="2909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31520">
              <a:spcBef>
                <a:spcPts val="800"/>
              </a:spcBef>
              <a:buNone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SINGLE OWNERSHIP PRINCIPLE</a:t>
            </a:r>
          </a:p>
          <a:p>
            <a:pPr marL="0" indent="0" defTabSz="731520">
              <a:spcBef>
                <a:spcPts val="800"/>
              </a:spcBef>
              <a:buNone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731520">
              <a:spcBef>
                <a:spcPts val="800"/>
              </a:spcBef>
              <a:buNone/>
            </a:pPr>
            <a:r>
              <a:rPr lang="en-GB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“A class should serve only one owner, who defines the requirements to create or change it.”  </a:t>
            </a:r>
          </a:p>
          <a:p>
            <a:pPr marL="0" indent="0" defTabSz="731520">
              <a:spcBef>
                <a:spcPts val="800"/>
              </a:spcBef>
              <a:buNone/>
            </a:pPr>
            <a:endParaRPr lang="en-GB" sz="1600" dirty="0"/>
          </a:p>
          <a:p>
            <a:pPr marL="0" indent="0" defTabSz="731520">
              <a:spcBef>
                <a:spcPts val="800"/>
              </a:spcBef>
              <a:buNone/>
            </a:pPr>
            <a:r>
              <a:rPr lang="en-GB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Nodirbek Usmanov, 2023</a:t>
            </a:r>
            <a:endParaRPr lang="en-DE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31A3304-C47D-C045-A6D4-400344E5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922096"/>
            <a:ext cx="2748860" cy="1371030"/>
          </a:xfrm>
        </p:spPr>
        <p:txBody>
          <a:bodyPr/>
          <a:lstStyle/>
          <a:p>
            <a:r>
              <a:rPr lang="en-DE" dirty="0"/>
              <a:t>Rephrase</a:t>
            </a:r>
          </a:p>
        </p:txBody>
      </p:sp>
    </p:spTree>
    <p:extLst>
      <p:ext uri="{BB962C8B-B14F-4D97-AF65-F5344CB8AC3E}">
        <p14:creationId xmlns:p14="http://schemas.microsoft.com/office/powerpoint/2010/main" val="30543139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19A7A4-AAD9-0CF6-801C-CCFDEE728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680111" y="5841978"/>
            <a:ext cx="3632051" cy="292122"/>
          </a:xfrm>
        </p:spPr>
        <p:txBody>
          <a:bodyPr/>
          <a:lstStyle/>
          <a:p>
            <a:pPr defTabSz="731520">
              <a:spcAft>
                <a:spcPts val="600"/>
              </a:spcAft>
            </a:pPr>
            <a:r>
              <a:rPr lang="en-US" sz="840" kern="120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Nodirbek</a:t>
            </a:r>
            <a:r>
              <a:rPr lang="en-US" sz="84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Usmanov | </a:t>
            </a:r>
            <a:r>
              <a:rPr lang="en-US" sz="840" kern="1200" dirty="0" err="1">
                <a:solidFill>
                  <a:schemeClr val="tx1"/>
                </a:solidFill>
                <a:latin typeface="+mj-lt"/>
                <a:ea typeface="+mn-ea"/>
                <a:cs typeface="+mn-cs"/>
              </a:rPr>
              <a:t>Befico</a:t>
            </a:r>
            <a:r>
              <a:rPr lang="en-US" sz="840" kern="1200" dirty="0">
                <a:solidFill>
                  <a:schemeClr val="tx1"/>
                </a:solidFill>
                <a:latin typeface="+mj-lt"/>
                <a:ea typeface="+mn-ea"/>
                <a:cs typeface="+mn-cs"/>
              </a:rPr>
              <a:t> GmbH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8FB8C0-4C56-D2A0-1F13-1054C7F61F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87800" y="1657923"/>
            <a:ext cx="3324362" cy="2909086"/>
          </a:xfrm>
        </p:spPr>
        <p:txBody>
          <a:bodyPr/>
          <a:lstStyle/>
          <a:p>
            <a:pPr marL="0" indent="0" defTabSz="731520">
              <a:spcBef>
                <a:spcPts val="800"/>
              </a:spcBef>
              <a:buNone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SINGLE RESPONSIBILITY PRINCIPLE</a:t>
            </a:r>
          </a:p>
          <a:p>
            <a:pPr marL="0" indent="0" defTabSz="731520">
              <a:spcBef>
                <a:spcPts val="800"/>
              </a:spcBef>
              <a:buNone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731520">
              <a:spcBef>
                <a:spcPts val="800"/>
              </a:spcBef>
              <a:buNone/>
            </a:pPr>
            <a:r>
              <a:rPr lang="en-GB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“A class should have only one reason to change.”  </a:t>
            </a:r>
          </a:p>
          <a:p>
            <a:pPr marL="0" indent="0" defTabSz="731520">
              <a:spcBef>
                <a:spcPts val="800"/>
              </a:spcBef>
              <a:buNone/>
            </a:pPr>
            <a:endParaRPr lang="en-GB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731520">
              <a:spcBef>
                <a:spcPts val="800"/>
              </a:spcBef>
              <a:buNone/>
            </a:pPr>
            <a:endParaRPr lang="en-GB" sz="16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731520">
              <a:spcBef>
                <a:spcPts val="800"/>
              </a:spcBef>
              <a:buNone/>
            </a:pPr>
            <a:br>
              <a:rPr lang="en-GB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</a:br>
            <a:r>
              <a:rPr lang="en-GB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Robert C. Martin, 2002</a:t>
            </a:r>
            <a:endParaRPr lang="en-DE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0E697D5B-B048-EF77-4A51-7E16C6D7E6B8}"/>
              </a:ext>
            </a:extLst>
          </p:cNvPr>
          <p:cNvSpPr txBox="1">
            <a:spLocks/>
          </p:cNvSpPr>
          <p:nvPr/>
        </p:nvSpPr>
        <p:spPr>
          <a:xfrm>
            <a:off x="8105639" y="1657923"/>
            <a:ext cx="3324362" cy="29090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defTabSz="731520">
              <a:spcBef>
                <a:spcPts val="800"/>
              </a:spcBef>
              <a:buNone/>
            </a:pPr>
            <a:r>
              <a:rPr lang="en-GB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SINGLE OWNERSHIP PRINCIPLE</a:t>
            </a:r>
          </a:p>
          <a:p>
            <a:pPr marL="0" indent="0" defTabSz="731520">
              <a:spcBef>
                <a:spcPts val="800"/>
              </a:spcBef>
              <a:buNone/>
            </a:pPr>
            <a:endParaRPr lang="en-GB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pPr marL="0" indent="0" defTabSz="731520">
              <a:spcBef>
                <a:spcPts val="800"/>
              </a:spcBef>
              <a:buNone/>
            </a:pPr>
            <a:r>
              <a:rPr lang="en-GB" sz="18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“A class should serve only one owner, who defines a family of functions (responsibility).”  </a:t>
            </a:r>
          </a:p>
          <a:p>
            <a:pPr marL="0" indent="0" defTabSz="731520">
              <a:spcBef>
                <a:spcPts val="800"/>
              </a:spcBef>
              <a:buNone/>
            </a:pPr>
            <a:endParaRPr lang="en-GB" sz="1600" dirty="0"/>
          </a:p>
          <a:p>
            <a:pPr marL="0" indent="0" defTabSz="731520">
              <a:spcBef>
                <a:spcPts val="800"/>
              </a:spcBef>
              <a:buNone/>
            </a:pPr>
            <a:endParaRPr lang="en-GB" sz="1600" dirty="0"/>
          </a:p>
          <a:p>
            <a:pPr marL="0" indent="0" defTabSz="731520">
              <a:spcBef>
                <a:spcPts val="800"/>
              </a:spcBef>
              <a:buNone/>
            </a:pPr>
            <a:r>
              <a:rPr lang="en-GB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Nodirbek Usmanov, 2023</a:t>
            </a:r>
            <a:endParaRPr lang="en-DE" dirty="0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831A3304-C47D-C045-A6D4-400344E5F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636" y="922096"/>
            <a:ext cx="2857376" cy="1371030"/>
          </a:xfrm>
        </p:spPr>
        <p:txBody>
          <a:bodyPr/>
          <a:lstStyle/>
          <a:p>
            <a:r>
              <a:rPr lang="en-DE" dirty="0"/>
              <a:t>Rephrase 2</a:t>
            </a:r>
          </a:p>
        </p:txBody>
      </p:sp>
    </p:spTree>
    <p:extLst>
      <p:ext uri="{BB962C8B-B14F-4D97-AF65-F5344CB8AC3E}">
        <p14:creationId xmlns:p14="http://schemas.microsoft.com/office/powerpoint/2010/main" val="39776248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Refactor</a:t>
            </a:r>
            <a:br>
              <a:rPr lang="en-GB" dirty="0"/>
            </a:br>
            <a:r>
              <a:rPr lang="en-GB" sz="1400" dirty="0">
                <a:solidFill>
                  <a:schemeClr val="bg1">
                    <a:lumMod val="75000"/>
                  </a:schemeClr>
                </a:solidFill>
              </a:rPr>
              <a:t>aware of transitive dependencies</a:t>
            </a:r>
            <a:endParaRPr lang="en-DE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93731" y="9712392"/>
            <a:ext cx="10691265" cy="2144614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  <a:effectLst/>
              </a:rPr>
              <a:t>class </a:t>
            </a:r>
            <a:r>
              <a:rPr lang="en-GB" dirty="0" err="1"/>
              <a:t>OrderService</a:t>
            </a:r>
            <a:r>
              <a:rPr lang="en-GB" dirty="0"/>
              <a:t> {</a:t>
            </a:r>
          </a:p>
          <a:p>
            <a:pPr marL="0" indent="0">
              <a:buNone/>
            </a:pPr>
            <a:r>
              <a:rPr lang="en-GB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sendEmail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= </a:t>
            </a:r>
            <a:r>
              <a:rPr lang="en-GB" i="1" dirty="0">
                <a:effectLst/>
              </a:rPr>
              <a:t>{ … }</a:t>
            </a:r>
            <a:endParaRPr lang="en-GB" i="1" dirty="0">
              <a:solidFill>
                <a:srgbClr val="CC7832"/>
              </a:solidFill>
              <a:effectLst/>
            </a:endParaRP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findById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Order = </a:t>
            </a:r>
            <a:r>
              <a:rPr lang="en-GB" i="1" dirty="0">
                <a:effectLst/>
              </a:rPr>
              <a:t>{ … }</a:t>
            </a:r>
          </a:p>
          <a:p>
            <a:pPr marL="0" indent="0">
              <a:buNone/>
            </a:pPr>
            <a:r>
              <a:rPr lang="en-GB" i="1" dirty="0">
                <a:solidFill>
                  <a:srgbClr val="CC7832"/>
                </a:solidFill>
              </a:rPr>
              <a:t>    </a:t>
            </a:r>
            <a:r>
              <a:rPr lang="en-GB" dirty="0">
                <a:solidFill>
                  <a:srgbClr val="CC7832"/>
                </a:solidFill>
                <a:effectLst/>
              </a:rPr>
              <a:t>fun </a:t>
            </a:r>
            <a:r>
              <a:rPr lang="en-GB" dirty="0" err="1">
                <a:solidFill>
                  <a:srgbClr val="FFC66D"/>
                </a:solidFill>
                <a:effectLst/>
              </a:rPr>
              <a:t>generateInvoice</a:t>
            </a:r>
            <a:r>
              <a:rPr lang="en-GB" dirty="0">
                <a:solidFill>
                  <a:srgbClr val="FFC66D"/>
                </a:solidFill>
                <a:effectLst/>
              </a:rPr>
              <a:t> </a:t>
            </a:r>
            <a:r>
              <a:rPr lang="en-GB" dirty="0"/>
              <a:t>(): Invoice = </a:t>
            </a:r>
            <a:r>
              <a:rPr lang="en-GB" i="1" dirty="0">
                <a:effectLst/>
              </a:rPr>
              <a:t>{ … }</a:t>
            </a:r>
            <a:br>
              <a:rPr lang="en-GB" dirty="0"/>
            </a:br>
            <a:r>
              <a:rPr lang="en-GB" dirty="0"/>
              <a:t>}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4D5D8F3-2FE2-1A09-EC3D-7F4803675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403FEA5-362A-B2E7-844B-2ADF19BF7EC2}"/>
              </a:ext>
            </a:extLst>
          </p:cNvPr>
          <p:cNvSpPr txBox="1"/>
          <p:nvPr/>
        </p:nvSpPr>
        <p:spPr>
          <a:xfrm>
            <a:off x="3946187" y="5788117"/>
            <a:ext cx="789237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DE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7E0BD34-02E3-E307-012B-B88491CB38BB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2570393" y="2492027"/>
            <a:ext cx="5936679" cy="257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10587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5F710FDB-0919-493E-8539-8240C23F1E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7482" y="908957"/>
            <a:ext cx="3819375" cy="3352767"/>
          </a:xfrm>
        </p:spPr>
        <p:txBody>
          <a:bodyPr>
            <a:normAutofit/>
          </a:bodyPr>
          <a:lstStyle/>
          <a:p>
            <a:r>
              <a:rPr lang="en-GB" dirty="0"/>
              <a:t>TAKE AWAY</a:t>
            </a:r>
            <a:endParaRPr lang="en-DE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230C0A8-3E5C-476B-A64B-4D4FDE8D5A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6383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70990" y="908957"/>
            <a:ext cx="6620910" cy="5223325"/>
          </a:xfrm>
        </p:spPr>
        <p:txBody>
          <a:bodyPr>
            <a:normAutofit/>
          </a:bodyPr>
          <a:lstStyle/>
          <a:p>
            <a:r>
              <a:rPr lang="en-GB" dirty="0"/>
              <a:t>A responsibility is a family of functions that serves one particular actor</a:t>
            </a:r>
          </a:p>
          <a:p>
            <a:r>
              <a:rPr lang="en-GB" dirty="0"/>
              <a:t>Increase the cohesion between things that change for same reasons</a:t>
            </a:r>
          </a:p>
          <a:p>
            <a:r>
              <a:rPr lang="en-GB" dirty="0"/>
              <a:t>Decrease the coupling between those things that change change for different reasons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E4E6D-084A-EF7D-96E1-8A7DA33D1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Nodirbek Usmanov | Befico GmbH</a:t>
            </a:r>
          </a:p>
        </p:txBody>
      </p:sp>
    </p:spTree>
    <p:extLst>
      <p:ext uri="{BB962C8B-B14F-4D97-AF65-F5344CB8AC3E}">
        <p14:creationId xmlns:p14="http://schemas.microsoft.com/office/powerpoint/2010/main" val="29472274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dirty="0">
                <a:solidFill>
                  <a:srgbClr val="FCE61F"/>
                </a:solidFill>
              </a:rPr>
              <a:t>LINKS</a:t>
            </a:r>
            <a:endParaRPr lang="en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F376A0-9888-E446-8A77-AD7AE24943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dirty="0"/>
              <a:t>The Single Responsibility Principle (</a:t>
            </a:r>
            <a:r>
              <a:rPr lang="en-GB" b="0" i="0" dirty="0">
                <a:solidFill>
                  <a:srgbClr val="29323C"/>
                </a:solidFill>
                <a:effectLst/>
                <a:latin typeface="FrescoPlusNormal"/>
              </a:rPr>
              <a:t>08 May 2014)</a:t>
            </a:r>
            <a:r>
              <a:rPr lang="en-GB" dirty="0"/>
              <a:t>, by Robert C. Martin (Uncle Bob),  </a:t>
            </a:r>
            <a:r>
              <a:rPr lang="en-GB" dirty="0">
                <a:hlinkClick r:id="rId2"/>
              </a:rPr>
              <a:t>https://blog.cleancoder.com/uncle-bob/2014/05/08/SingleReponsibilityPrinciple.html</a:t>
            </a:r>
            <a:endParaRPr lang="en-GB" dirty="0"/>
          </a:p>
          <a:p>
            <a:r>
              <a:rPr lang="en-GB" dirty="0"/>
              <a:t>Agile Software Development: Principles, Patterns, and Practices, 2002, by Robert C. Martin (Uncle Bob)</a:t>
            </a:r>
          </a:p>
          <a:p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E4E6D-084A-EF7D-96E1-8A7DA33D1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Nodirbek Usmanov | Befico GmbH</a:t>
            </a:r>
          </a:p>
        </p:txBody>
      </p:sp>
      <p:pic>
        <p:nvPicPr>
          <p:cNvPr id="4" name="Picture 3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85E1A4E8-E0F3-48DD-7BC4-773747A33D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48458" y="6286705"/>
            <a:ext cx="843442" cy="365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3409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68B2C62-7648-4430-90D5-AE0F252AF1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2D5268C-7214-C04D-BD72-C26194182E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0087" y="909638"/>
            <a:ext cx="10691813" cy="1155618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GB" sz="3700"/>
              <a:t>THANK YOU</a:t>
            </a:r>
            <a:br>
              <a:rPr lang="en-GB" sz="3700"/>
            </a:br>
            <a:endParaRPr lang="en-DE" sz="370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AD0195E-7F27-4D06-9427-0C121D721A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723900"/>
            <a:ext cx="10591800" cy="0"/>
          </a:xfrm>
          <a:prstGeom prst="line">
            <a:avLst/>
          </a:prstGeom>
          <a:ln w="444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D74C2FC-3228-4FC1-B97B-87AD35508D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00100" y="6142781"/>
            <a:ext cx="105918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FE4E6D-084A-EF7D-96E1-8A7DA33D1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5383" y="6356350"/>
            <a:ext cx="45397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Nodirbek Usmanov | Befico GmbH</a:t>
            </a:r>
          </a:p>
        </p:txBody>
      </p:sp>
      <p:pic>
        <p:nvPicPr>
          <p:cNvPr id="5" name="Picture 4" descr="A black background with a black square&#10;&#10;Description automatically generated">
            <a:extLst>
              <a:ext uri="{FF2B5EF4-FFF2-40B4-BE49-F238E27FC236}">
                <a16:creationId xmlns:a16="http://schemas.microsoft.com/office/drawing/2014/main" id="{877B2D56-1998-F35B-243C-E81B2347A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8458" y="6286705"/>
            <a:ext cx="843442" cy="365126"/>
          </a:xfrm>
          <a:prstGeom prst="rect">
            <a:avLst/>
          </a:prstGeom>
        </p:spPr>
      </p:pic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D121C6E8-B1B0-6006-A1F3-88A78F44D8D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0885168"/>
              </p:ext>
            </p:extLst>
          </p:nvPr>
        </p:nvGraphicFramePr>
        <p:xfrm>
          <a:off x="700088" y="2292350"/>
          <a:ext cx="10691812" cy="3636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68496532"/>
      </p:ext>
    </p:extLst>
  </p:cSld>
  <p:clrMapOvr>
    <a:masterClrMapping/>
  </p:clrMapOvr>
</p:sld>
</file>

<file path=ppt/theme/theme1.xml><?xml version="1.0" encoding="utf-8"?>
<a:theme xmlns:a="http://schemas.openxmlformats.org/drawingml/2006/main" name="ChronicleVTI">
  <a:themeElements>
    <a:clrScheme name="AnalogousFromLightSeedLeftStep">
      <a:dk1>
        <a:srgbClr val="000000"/>
      </a:dk1>
      <a:lt1>
        <a:srgbClr val="FFFFFF"/>
      </a:lt1>
      <a:dk2>
        <a:srgbClr val="213B38"/>
      </a:dk2>
      <a:lt2>
        <a:srgbClr val="E8E6E2"/>
      </a:lt2>
      <a:accent1>
        <a:srgbClr val="6E90EE"/>
      </a:accent1>
      <a:accent2>
        <a:srgbClr val="34AEE8"/>
      </a:accent2>
      <a:accent3>
        <a:srgbClr val="37B4A8"/>
      </a:accent3>
      <a:accent4>
        <a:srgbClr val="32B773"/>
      </a:accent4>
      <a:accent5>
        <a:srgbClr val="2DBB37"/>
      </a:accent5>
      <a:accent6>
        <a:srgbClr val="65B53A"/>
      </a:accent6>
      <a:hlink>
        <a:srgbClr val="918157"/>
      </a:hlink>
      <a:folHlink>
        <a:srgbClr val="7F7F7F"/>
      </a:folHlink>
    </a:clrScheme>
    <a:fontScheme name="Univers Calisto">
      <a:majorFont>
        <a:latin typeface="Univers Condensed"/>
        <a:ea typeface=""/>
        <a:cs typeface=""/>
      </a:majorFont>
      <a:minorFont>
        <a:latin typeface="Calisto M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hronicleVTI" id="{508E4D90-5116-4BF0-876B-3F422DD1F65F}" vid="{AA21DC3D-92A8-43A4-8358-ED428371CD5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F3B92485-1456-314D-A6B0-E705A2B53B12}">
  <we:reference id="wa200000113" version="1.0.0.0" store="en-US" storeType="OMEX"/>
  <we:alternateReferences>
    <we:reference id="wa200000113" version="1.0.0.0" store="wa200000113" storeType="OMEX"/>
  </we:alternateReferences>
  <we:properties>
    <we:property name="drawioRecentList" value="&quot;{\&quot;BFAE8D28E38E51C0!27170\&quot;:{\&quot;id\&quot;:\&quot;BFAE8D28E38E51C0!27170\&quot;,\&quot;name\&quot;:\&quot;SRE2023.drawio\&quot;,\&quot;lastModifiedDateTime\&quot;:\&quot;2023-09-27T09:51:30.29Z\&quot;,\&quot;size\&quot;:26074,\&quot;parentReference\&quot;:{\&quot;driveId\&quot;:\&quot;bfae8d28e38e51c0\&quot;,\&quot;driveType\&quot;:\&quot;personal\&quot;,\&quot;id\&quot;:\&quot;BFAE8D28E38E51C0!101\&quot;,\&quot;path\&quot;:\&quot;/drive/root:\&quot;},\&quot;file\&quot;:{\&quot;mimeType\&quot;:\&quot;application/octet-stream\&quot;,\&quot;hashes\&quot;:{\&quot;quickXorHash\&quot;:\&quot;hThd3WcSCc9YY+f6ZUktV5NTxoI=\&quot;,\&quot;sha1Hash\&quot;:\&quot;20AAC124C5F65657DAD58A29F857ECB88909F1E1\&quot;,\&quot;sha256Hash\&quot;:\&quot;886BE9134D893E60171926D52203D11D5F7F66FC86427079A21E215F84370F6C\&quot;}},\&quot;createdBy\&quot;:{\&quot;application\&quot;:{\&quot;displayName\&quot;:\&quot;diagrams.net\&quot;,\&quot;id\&quot;:\&quot;4436ac77\&quot;},\&quot;user\&quot;:{\&quot;displayName\&quot;:\&quot;Nodirbek U.\&quot;,\&quot;id\&quot;:\&quot;bfae8d28e38e51c0\&quot;}},\&quot;lastModifiedBy\&quot;:{\&quot;application\&quot;:{\&quot;displayName\&quot;:\&quot;diagrams.net\&quot;,\&quot;id\&quot;:\&quot;4436ac77\&quot;},\&quot;user\&quot;:{\&quot;displayName\&quot;:\&quot;Nodirbek U.\&quot;,\&quot;id\&quot;:\&quot;bfae8d28e38e51c0\&quot;}},\&quot;fromOD\&quot;:true,\&quot;isDrawio\&quot;:true}}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46806</TotalTime>
  <Words>1334</Words>
  <Application>Microsoft Macintosh PowerPoint</Application>
  <PresentationFormat>Widescreen</PresentationFormat>
  <Paragraphs>191</Paragraphs>
  <Slides>24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Calisto MT</vt:lpstr>
      <vt:lpstr>FrescoPlusNormal</vt:lpstr>
      <vt:lpstr>Univers Condensed</vt:lpstr>
      <vt:lpstr>ChronicleVTI</vt:lpstr>
      <vt:lpstr>SINGLE RESPONSIBILITY PRINCIPLE MiSSUnDERSTOOD and UNDERESTIMATED</vt:lpstr>
      <vt:lpstr>INTRO</vt:lpstr>
      <vt:lpstr>Single Responsibility PRINCiPLE</vt:lpstr>
      <vt:lpstr>Single Responsibility PRINCiPLE</vt:lpstr>
      <vt:lpstr>Single Responsibility PRINCiPLE (SRP)</vt:lpstr>
      <vt:lpstr>Single Responsibility Principle “A class should have only one reason to change.”  -  Robert C. Martin</vt:lpstr>
      <vt:lpstr>Responsibility</vt:lpstr>
      <vt:lpstr>Responsibility</vt:lpstr>
      <vt:lpstr>CONCLUSION – VIOLATES SRP</vt:lpstr>
      <vt:lpstr>Responsibility</vt:lpstr>
      <vt:lpstr>Responsibility</vt:lpstr>
      <vt:lpstr>Responsibility</vt:lpstr>
      <vt:lpstr>Responsibility</vt:lpstr>
      <vt:lpstr>CONCLUSION – VIOLATES SRP</vt:lpstr>
      <vt:lpstr>RESPONSIBILiTY – SOURCE OF CHANGE</vt:lpstr>
      <vt:lpstr>Responsibility Who are the people, who are the sources of change for the STUDENT class? </vt:lpstr>
      <vt:lpstr>Single Responsibility PRINCIPLE “A class should have only one reason to change.”  -  Robert C. Martin</vt:lpstr>
      <vt:lpstr>Single Responsibility PRINCIPLE responsibility is a family of functions that serves one particular actor</vt:lpstr>
      <vt:lpstr>Rephrase</vt:lpstr>
      <vt:lpstr>Rephrase 2</vt:lpstr>
      <vt:lpstr>Refactor aware of transitive dependencies</vt:lpstr>
      <vt:lpstr>TAKE AWAY</vt:lpstr>
      <vt:lpstr>LINKS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SOLID Princples</dc:title>
  <dc:creator>nodirbek.usmanov@outlook.com</dc:creator>
  <cp:lastModifiedBy>Nodirbek Usmanov</cp:lastModifiedBy>
  <cp:revision>4</cp:revision>
  <cp:lastPrinted>2023-09-28T06:08:42Z</cp:lastPrinted>
  <dcterms:created xsi:type="dcterms:W3CDTF">2022-02-04T09:53:42Z</dcterms:created>
  <dcterms:modified xsi:type="dcterms:W3CDTF">2026-10-11T19:20:31Z</dcterms:modified>
</cp:coreProperties>
</file>